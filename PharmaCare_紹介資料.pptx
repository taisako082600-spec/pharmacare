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2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lang="ja-JP" altLang="en-US" sz="1400" b="0" i="0" u="none" strike="noStrike">
                <a:solidFill>
                  <a:srgbClr val="14504B"/>
                </a:solidFill>
                <a:latin typeface="Yu Gothic"/>
              </a:rPr>
              <a:t>横ばいの群を</a:t>
            </a:r>
            <a:r>
              <a:rPr lang="en-US" altLang="ja-JP" sz="1400" b="0" i="0" u="none" strike="noStrike">
                <a:solidFill>
                  <a:srgbClr val="14504B"/>
                </a:solidFill>
                <a:latin typeface="Yu Gothic"/>
              </a:rPr>
              <a:t>1</a:t>
            </a:r>
            <a:r>
              <a:rPr lang="ja-JP" altLang="en-US" sz="1400" b="0" i="0" u="none" strike="noStrike">
                <a:solidFill>
                  <a:srgbClr val="14504B"/>
                </a:solidFill>
                <a:latin typeface="Yu Gothic"/>
              </a:rPr>
              <a:t>としたときの、尿蛋白の出やすさ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リスクの比</c:v>
                </c:pt>
              </c:strCache>
            </c:strRef>
          </c:tx>
          <c:spPr>
            <a:solidFill>
              <a:srgbClr val="A8CFC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E4F-43E4-9F80-FAB207C4540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E4F-43E4-9F80-FAB207C45401}"/>
              </c:ext>
            </c:extLst>
          </c:dPt>
          <c:dPt>
            <c:idx val="2"/>
            <c:invertIfNegative val="0"/>
            <c:bubble3D val="0"/>
            <c:spPr>
              <a:solidFill>
                <a:srgbClr val="3E8E8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E4F-43E4-9F80-FAB207C45401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16211F"/>
                    </a:solidFill>
                    <a:latin typeface="Calibri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減った</c:v>
                </c:pt>
                <c:pt idx="1">
                  <c:v>横ばい（基準）</c:v>
                </c:pt>
                <c:pt idx="2">
                  <c:v>増えた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1.1599999999999999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E4F-43E4-9F80-FAB207C4540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4276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資料の要点は「出典がある」ことではなく「専門職でなくても答えられる形に直した」こと。ここが一番手間のかかった部分。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「東京に置いています」で終わらせない。なぜ東京でなければならないかまで言えると、預ける側は判断できる。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道具は、もうある。つないだものが無い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施設と薬局まわりの既存サービスを調べたうえでの整理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電子お薬手帳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EPARK・日本調剤・さくら薬局ほか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薬の履歴を本人が持ち歩ける。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血圧などを記録できるものもある。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患者本人のための道具。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介護職員が入居者の分を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扱う想定になっていない。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3575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7895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施設向け服薬管理システム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47895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服やっくん・ピクスリー・楽くすりほか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47895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QRで薬を取り込み、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飲み忘れ・誤薬を防ぐ。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薬局と施設をつなぐものも出てきた。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47895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7895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配薬を正確にすることが主眼。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体調の記録や、症状が出たときの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判断までは踏み込まない。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1563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995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などの汎用チャット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8995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実際に多くの現場で使われている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995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とにかくすぐ聞ける。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導入の手間がない。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8995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995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医療情報を扱う前提の設計ではなく、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やり取りが記録として残らない。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25780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薬・体調・相談・受診の判断が、それぞれ別の場所にある。それを頭の中でつないでいるのが現場の職員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629107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厚生労働省「電子版お薬手帳サービス一覧」(2026年8月1日現在)、各サービス公式サイト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なぜ、今つくるのか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制度の流れが、施設と薬局を近づけている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在宅・施設への訪問が国の方向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薬剤師の役割は「薬を渡す」から「渡したあとを見る」へ移っている。</a:t>
            </a:r>
            <a:endParaRPr lang="en-US" sz="13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施設に足を運ぶ機会は今後さらに増える。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172968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31272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門前から面へ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53872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特定の病院の前に構える薬局から、地域のどの処方箋も受ける薬局へ。</a:t>
            </a:r>
            <a:endParaRPr lang="en-US" sz="13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処方元に電話すれば済んでいたことが、済まなくなる。</a:t>
            </a:r>
            <a:endParaRPr lang="en-US" sz="13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患者の薬を薬局側で一元的に把握する必要が出てくる。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471416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71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442569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服薬期間中のフォローアップは、すでに義務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83717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2020年9月施行の改正薬機法・薬剤師法で、渡したあとの服薬状況を</a:t>
            </a:r>
            <a:endParaRPr lang="en-US" sz="13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継続的に把握することが薬剤師の責務になった。</a:t>
            </a:r>
            <a:endParaRPr lang="en-US" sz="13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ただし現場の手段は電話が中心で、続けるのが難しい。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760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760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義務だから電話をかけるのではなく、続けられる形にする。それが結果として、選ばれる薬局につながる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施設を単位に、関わる人が集まる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作るのは施設ひとつ。あとは招待コードで、職員・薬剤師・ご家族が加わります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" y="614476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Webブラウザだけで使えます。専用アプリのインストールは要りません。施設の共用パソコンでも、タブレットでも同じ画面です。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記録する・相談する・判断を助ける。ばらばらだったものが、ひとつの画面の中でつながります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QRコードで5秒登録。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変更履歴も自動で残る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6329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74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8274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6445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服薬記録・バイタル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6445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服薬の実施、血圧・体温・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SpO₂を日々の記録として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451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451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9622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9622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入居者ごとの相談ルーム。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何の薬の話かが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最初から共有されている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2683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628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628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2799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2799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976" y="4270248"/>
            <a:ext cx="402336" cy="402336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097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268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268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添付文書から該当箇所だけ。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腎機能・肝機能・年齢に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合わせて出し分ける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6329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82746" y="4270248"/>
            <a:ext cx="402336" cy="402336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8274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6445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66445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体調不良時の対応の目安を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3段階で提示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19506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14516" y="427024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1451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39622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家族への共有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39622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処方とバイタルを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ご家族が閲覧できる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92683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6286" y="427024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628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12799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12799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31520" y="6108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⑤⑥はAIを使う機能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②と⑤がつながっているのがこのアプリの要。「血圧が下がってきたので降圧薬を見直しては」という相談が、数字を見ながらできます。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体調不良のとき、様子を見てよいか迷わない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 ― 聞き取った内容から、対応の目安を3段階で示します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緊急性は低いと考えられる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ワンタップで相談へつながる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速やかに受診の手配を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医師向けの基準を、介護職が答えられる言葉に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危険信号118項目は、すべて公開資料か医学書に紐づいています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例：「Centorの基準で3点以上」→「口を大きく開けられない」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58155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白苔を見る、リンパ節を触る。診察が要る指標は使えないので、見ればわかる質問に置き換えています。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50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1463040"/>
          </a:xfrm>
          <a:prstGeom prst="roundRect">
            <a:avLst>
              <a:gd name="adj" fmla="val 5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40740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93776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できていないことも、この章の最後にそのまま並べています。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二要素認証はアカウント作成時に登録必須です。設定を終えるまでアプリ本体には入れません。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入れる人を絞り、触った跡を残す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前ページの「二要素認証・アクセス権限・監査ログ」は、要するにこの3つです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二要素認証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パスワードだけでは入れない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パスワードは漏れます。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使い回していれば、別のサービス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から漏れた1つで入られます。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知識だけで通れるのが弱点です。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アカウントを作る時点で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登録を必須にしています。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手元のスマートフォンが出す6桁を、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ログインのたびに求めます。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権限の最小化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必要な人が、必要な分だけ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全員が全部見られる状態だと、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1つのアカウントが破られたとき、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被害がすべての入居者に及びます。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施設と役割で区切っています。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他施設の入居者は一覧にも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出ません。ご家族に見えるのは、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紐づいた本人の分だけです。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触った跡が残り、消せない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情報が漏れたとき、誰がいつ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見たのか辿れなければ、原因も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範囲も分かりません。その記録が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消せるなら、無いのと同じです。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閲覧・登録・変更・印刷を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記録します。書き足すことしか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できず、後から消す・書き直す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操作は仕組み上できません。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あわせて、15分操作がないと自動でサインアウトします。共用端末に前の人の画面が残らないようにするためです。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どこに置いて、なぜそこなのか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 6.1「国内法の執行が及ぶ範囲に置く」が、実際にどうなっているか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931920" y="17830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86600" y="178308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なぜ、そこなのか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240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入居者の記録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服薬・バイタル・アレルギー・やり取り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22677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Firestore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東京（asia-northeast1）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0866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国内法の執行が及ぶ範囲に置くことが要求事項です。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海外だと、いざというとき日本の法律が届きません。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898648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264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誰が・いつ・何を見たか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319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同じ東京リージョン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（専用の領域）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3017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書き足すことしかできない設定にしています。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運営者の手でも、後から書き換え・削除ができません。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648456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39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アプリの画面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ブラウザに配信される本体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31920" y="37673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Firebase Hosting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全通信を HTTPS に強制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866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施設の端末と保管先のあいだを暗号化します。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途中の経路で中身を読まれることはありません。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4398264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489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AIに送る内容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4764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説明文を組み立てる分だけ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45171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自社のプロキシ経由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Run 東京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51713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氏名・生年月日・居室番号は送りません。送るのは症状と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薬剤名だけです。判定自体はAIではなくルールが決めます。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5193792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303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消えないこと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43200" y="530352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過去7日間の任意の時点まで戻せます。データベースそのものの削除も、設定で禁止しています。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51560" y="57241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読まれないこと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0" y="572414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保存時は Google Cloud の既定で暗号化。基盤は ISO/IEC 27001・27017・27018 と SOC 2/3 を取得しています。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基盤事業者は Google Cloud Japan ですが、米国法の適用可能性は完全には排除できません。当社自身のPマーク／ISMSも未取得です（この章の最後に記載）。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紙のカルテと同じ信頼を、データで担保する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同じ表の「真正性・見読性・保存性」は、かみ砕くとこの3つです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あとから書き換えられていないこと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アレルギーが「あり」から「なし」に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変わっていたとして、それが正規の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訂正なのか分からなければ、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その記録は使えません。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誰が・いつ・何を・どう変えたかを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変更前の値ごと残します。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記録そのものの書き換えと削除は、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仕組みとして禁止しています。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見読性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必要なときに読み出せること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行政の調査や監査では、記録の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提出を求められます。画面で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見えるだけでは足りず、紙に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出せる必要があります。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入居者ごとの記録を、そのまま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印刷できるようにしました。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印刷したこと自体も、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持ち出しとして記録に残します。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保存性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保存期間中は失われないこと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誤操作や障害でデータが壊れても、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決められた期間は元に戻せなければ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なりません。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巻き戻せます。データベース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自体の誤削除も、設定で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できないようにしています。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この3つは、紙のカルテで当たり前に成り立っていたことを、電子でも同じ水準にするための決まりです。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監査ログを施設側で確認する画面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システム運用編17①は、記録するだけでなく定期的に確認することまで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求めています。記録と権限は揃っているので、閲覧画面を足せば満たせます。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50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709160"/>
            <a:ext cx="9326880" cy="1143000"/>
          </a:xfrm>
          <a:prstGeom prst="roundRect">
            <a:avLst>
              <a:gd name="adj" fmla="val 640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48646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第1部と同じ考え方です。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52578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すでに手元にあるデータを、その場の判断につなげる。第1部は施設の服薬記録で、第2部は健診の数値です。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6035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731520" y="3840480"/>
          <a:ext cx="603504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ext 11"/>
          <p:cNvSpPr/>
          <p:nvPr/>
        </p:nvSpPr>
        <p:spPr>
          <a:xfrm>
            <a:off x="731520" y="5897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「増えた」だけが統計的に確かめられた差です。「減った」は 1.16 と出ていますが、ばらつきの範囲（0.85〜1.58）が1をまたぐため、差があるとは言えません。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840480"/>
            <a:ext cx="4389120" cy="2560320"/>
          </a:xfrm>
          <a:prstGeom prst="roundRect">
            <a:avLst>
              <a:gd name="adj" fmla="val 28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0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4434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0" y="5193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1.38倍とは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0" y="5486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横ばいだった人に比べ、尿蛋白が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新たに出た人の割合が約1.4倍。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体重やBMIの変化を考慮しても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残った差です。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6974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20840" y="335584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「減った人も危ない」とは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言えない（差が確かめられていない）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20840" y="401421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痩せた理由が生活改善なのか、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病気や低栄養なのかは区別できない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46725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1年・延岡市の受診者が対象。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50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1183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B30D185-8540-3F50-7CE7-9653A3B72228}"/>
              </a:ext>
            </a:extLst>
          </p:cNvPr>
          <p:cNvSpPr txBox="1"/>
          <p:nvPr/>
        </p:nvSpPr>
        <p:spPr>
          <a:xfrm>
            <a:off x="957943" y="854529"/>
            <a:ext cx="62211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オンライン診療</a:t>
            </a:r>
            <a:endParaRPr kumimoji="1" lang="en-US" altLang="ja-JP" dirty="0"/>
          </a:p>
          <a:p>
            <a:r>
              <a:rPr kumimoji="1" lang="ja-JP" altLang="en-US" dirty="0"/>
              <a:t>→トリアージになる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ハザマ薬局が在宅分野は連携している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佐賀電子</a:t>
            </a:r>
            <a:endParaRPr kumimoji="1" lang="en-US" altLang="ja-JP" dirty="0"/>
          </a:p>
          <a:p>
            <a:r>
              <a:rPr kumimoji="1" lang="ja-JP" altLang="en-US" dirty="0"/>
              <a:t>特許　　　</a:t>
            </a:r>
            <a:endParaRPr kumimoji="1" lang="en-US" altLang="ja-JP" dirty="0"/>
          </a:p>
          <a:p>
            <a:r>
              <a:rPr kumimoji="1" lang="ja-JP" altLang="en-US" dirty="0"/>
              <a:t>グーグルワークスペース→アプリの開発</a:t>
            </a:r>
            <a:endParaRPr kumimoji="1" lang="en-US" altLang="ja-JP" dirty="0"/>
          </a:p>
          <a:p>
            <a:r>
              <a:rPr kumimoji="1" lang="ja-JP" altLang="en-US" dirty="0"/>
              <a:t>名刺管理アプリ　</a:t>
            </a:r>
            <a:endParaRPr kumimoji="1" lang="en-US" altLang="ja-JP" dirty="0"/>
          </a:p>
          <a:p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36966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1239</Words>
  <Application>Microsoft Office PowerPoint</Application>
  <PresentationFormat>ワイド画面</PresentationFormat>
  <Paragraphs>456</Paragraphs>
  <Slides>24</Slides>
  <Notes>22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24</vt:i4>
      </vt:variant>
    </vt:vector>
  </HeadingPairs>
  <TitlesOfParts>
    <vt:vector size="28" baseType="lpstr">
      <vt:lpstr>Yu Gothic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Taisei Sakoguchi</cp:lastModifiedBy>
  <cp:revision>2</cp:revision>
  <dcterms:created xsi:type="dcterms:W3CDTF">2026-08-27T06:08:44Z</dcterms:created>
  <dcterms:modified xsi:type="dcterms:W3CDTF">2026-08-27T08:23:48Z</dcterms:modified>
</cp:coreProperties>
</file>