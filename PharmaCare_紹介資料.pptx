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504B"/>
                </a:solidFill>
                <a:latin typeface="Yu Gothic"/>
              </a:defRPr>
            </a:pPr>
            <a:r>
              <a:rPr sz="1400" b="0" i="0" u="none" strike="noStrike">
                <a:solidFill>
                  <a:srgbClr val="14504B"/>
                </a:solidFill>
                <a:latin typeface="Yu Gothic"/>
              </a:rPr>
              <a:t>横ばいの群を1としたときの、尿蛋白の出やすさ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リスクの比</c:v>
                </c:pt>
              </c:strCache>
            </c:strRef>
          </c:tx>
          <c:spPr>
            <a:solidFill>
              <a:srgbClr val="A8CFC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8E8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減った</c:v>
                  </c:pt>
                  <c:pt idx="1">
                    <c:v>横ばい（基準）</c:v>
                  </c:pt>
                  <c:pt idx="2">
                    <c:v>増えた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1.16</c:v>
                </c:pt>
                <c:pt idx="1">
                  <c:v>1</c:v>
                </c:pt>
                <c:pt idx="2">
                  <c:v>1.38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6211F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12700" cap="flat">
              <a:solidFill>
                <a:srgbClr val="E4ED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資料の要点は「出典がある」ことではなく「専門職でなくても答えられる形に直した」こと。ここが一番手間のかかった部分。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隠さず出すことが、医療情報を預かる事業者としての信頼につながる。指摘される前に自分から言う。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この資料の中心メッセージ。データ→研究→現場の実践、という流れを示す。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023360"/>
            <a:ext cx="2926080" cy="29260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現場のデータを、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次の一手につなげる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914400" y="3931920"/>
            <a:ext cx="36576" cy="1371600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3950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ファーマケア — 介護施設と薬剤師をつなぐ服薬管理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健診データをプライマリケアにどう活かすか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　迫口 大晟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2377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3649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介護施設と薬剤師をつなぐ、服薬管理プラットフォーム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施設と薬局のあいだが、電話とFAXで止まっている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4937760" cy="3474720"/>
          </a:xfrm>
          <a:prstGeom prst="roundRect">
            <a:avLst>
              <a:gd name="adj" fmla="val 2105"/>
            </a:avLst>
          </a:prstGeom>
          <a:solidFill>
            <a:srgbClr val="F0EEEA"/>
          </a:solidFill>
          <a:ln w="12700">
            <a:solidFill>
              <a:srgbClr val="F0EE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240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これまで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97280" y="29718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薬が変わっても伝わらない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37216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相談したいがつながらない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447141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夜間・休日は判断材料がない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37960" y="1965960"/>
            <a:ext cx="4892040" cy="3474720"/>
          </a:xfrm>
          <a:prstGeom prst="roundRect">
            <a:avLst>
              <a:gd name="adj" fmla="val 2105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03720" y="2240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903720" y="29718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薬の情報がその場で共有される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903720" y="372160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時間を選ばずチャットで相談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03720" y="447141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症状から対応の目安が出る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06440" y="3520440"/>
            <a:ext cx="457200" cy="402336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71500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Webブラウザだけで利用でき、アプリのインストールは不要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施設をつくり、招待コードでつながる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17320" y="2286000"/>
            <a:ext cx="566928" cy="566928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8833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80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9008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招待コード発行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92861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9788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9788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3036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職員が参加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16889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7064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入居者を登録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40917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9264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78440" y="2286000"/>
            <a:ext cx="566928" cy="566928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71092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家族を招待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1520" y="4343400"/>
            <a:ext cx="106984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4553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役割ごとに、見えるものが違う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105156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5156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薬の登録・変更、相談対応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2628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介護士・看護師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52628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服薬記録、バイタル、症状相談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0100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00100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処方とバイタルの閲覧のみ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日々の記録から、判断の支援まで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3619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お薬手帳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QRコードで5秒登録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変更履歴も自動で記録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7258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3951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カレンダー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9087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薬剤師の訪問予定を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施設側にも表示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7590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7590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4283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患者ごとの相談ルーム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リアルタイムで反映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3619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服薬の注意点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8755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添付文書から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該当箇所だけを提示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3484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7258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7258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3951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69087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体調不良時の対応の目安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を3段階で提示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13816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75904" y="432511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7590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4283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記録の書面出力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39419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保管中の記録を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そのまま印刷できる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315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④⑤はAIを使う機能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体調不良のとき、様子を見てよいか迷わない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 ― 聞き取った内容から、対応の目安を3段階で示します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スタッフが入力する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27632" y="2697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症状カテゴリー（17種類）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300984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27632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重症度・発症時刻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390448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27632" y="39044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当てはまる危険信号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97880" y="3063240"/>
            <a:ext cx="411480" cy="384048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1874520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48272" y="2130552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1965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市販薬で様子を見る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42048" y="23317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緊急性は低いと考えられる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843784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48272" y="3099816"/>
            <a:ext cx="329184" cy="329184"/>
          </a:xfrm>
          <a:prstGeom prst="ellipse">
            <a:avLst/>
          </a:prstGeom>
          <a:solidFill>
            <a:srgbClr val="C99A22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29352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A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42048" y="33009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ワンタップで相談へつながる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3813048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48272" y="4069080"/>
            <a:ext cx="329184" cy="329184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39044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医療機関を受診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42048" y="4270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速やかに受診の手配を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120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判定はルールで決まる。AIは説明文をつくるだけ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97280" y="555955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危険信号が1つでもあれば、重症度によらず受診をすすめる側に倒します。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医師向けの基準を、介護職が答えられる言葉に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危険信号118項目は、すべて公開資料か医学書に紐づいています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厚生労働省の公開資料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症候別トリアージの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枠組みと症候の分類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アルゴリズムで考える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薬剤師の臨床判断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15症候それぞれの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「見逃してはいけない疾患」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薬学臨床推論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なぜその判定になるかの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73152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実装した危険信号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3484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443484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対応する症候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3816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813816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照合した文献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5257800"/>
            <a:ext cx="10698480" cy="1051560"/>
          </a:xfrm>
          <a:prstGeom prst="roundRect">
            <a:avLst>
              <a:gd name="adj" fmla="val 69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4132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例：「Centorの基準で3点以上」→「口を大きく開けられない」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581558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白苔を見る、リンパ節を触る。診察が要る指標は使えないので、見ればわかる質問に置き換えています。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AIに、医学的な判断はさせない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もっともらしい誤りが混ざることを、医療では許容できないため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3090672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AIがやること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7043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添付文書の該当箇所を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探して見せる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複数の薬に共通する注意点を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重複を省いて整理する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090672"/>
            <a:ext cx="502920" cy="502920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3232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AIがやらないこと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1967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書かれていないことを補う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967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新しい医学的判断をする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19672" y="503834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トリアージの判定を決める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AIが使えない状況でも、判定そのものはアプリだけで返ります。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患者情報を扱うということ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2つのガイドラインに照らして確認しています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安全管理に関するガイドライン 第7.0版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守るのは利用施設。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それを支える機能を提供します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1F6F5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総務省・経済産業省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提供事業者における安全管理ガイドライン 第2.0版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こちらは私たちが名宛人。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提供者として直接守る側です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43891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どちらも「何を求めているか」から実装を決めています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97280" y="4846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条文を先に読み、そこから必要な機能を起こしました。次の2枚で、要求事項と実装の対応を示します。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54406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できていないことも、この章の最後にそのまま並べています。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施設が守る側の要求に、機能で応える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医療情報システムの安全管理に関するガイドライン 第7.0版（厚生労働省）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 14 遵守事項⑤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令和9年4月までに二要素認証を採用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認証アプリの6桁（TOTP）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14.2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アクセス権限は必要最小限に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Firestoreルールで施設・ロール単位に分離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誰がいつ何を見たかを残す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監査ログ。変更は前後の値まで記録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17②③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ログの改ざんを防ぐ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追記のみ。更新と削除を禁止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12.3.2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離席時に画面をロックする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15分の無操作で自動サインアウト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二要素認証はアカウント作成時に登録必須です。設定を終えるまでアプリ本体には入れません。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提供者として直接問われる要求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医療情報を取り扱う情報システム・サービスの提供事業者における安全管理ガイドライン 第2.0版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データ・処理系とも東京リージョン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真正性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改変の事実と、その内容を残す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変更前後の値・作成者・サーバー時刻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見読性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画面表示に加え、書面を作成できる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記録の印刷機能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保存性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期間中は復元できる状態を保つ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任意時点への復元・削除保護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4.1／4.2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医療機関へ所定の項目を開示し、役割分担を明確にする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サービス仕様適合開示書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このガイドラインは医療機関ではなく、システムを提供する事業者そのものが名宛人です。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紙のカルテと同じ信頼を、データで担保する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前ページの「真正性・見読性・保存性」は、かみ砕くとこの3つです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あとから書き換えられていないこと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アレルギーが「あり」から「なし」に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変わっていたとして、それが正規の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訂正なのか分からなければ、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その記録は使えません。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誰が・いつ・何を・どう変えたかを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変更前の値ごと残します。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記録そのものの書き換えと削除は、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仕組みとして禁止しています。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見読性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必要なときに読み出せること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行政の調査や監査では、記録の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提出を求められます。画面で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見えるだけでは足りず、紙に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出せる必要があります。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入居者ごとの記録を、そのまま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印刷できるようにしました。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印刷したこと自体も、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持ち出しとして記録に残します。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保存性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保存期間中は失われないこと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誤操作や障害でデータが壊れても、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決められた期間は元に戻せなければ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なりません。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巻き戻せます。データベース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自体の誤削除も、設定で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できないようにしています。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この3つは、紙のカルテで当たり前に成り立っていたことを、電子でも同じ水準にするための決まりです。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導入をご検討いただく前に、こちらからお伝えします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1122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プライバシーマーク／ISMS認証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949440" y="21305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0" y="2130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未取得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事業者ガイドライン4.4が求めています。技術的な工夫では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代替できず、審査期間と費用がかかるため事業判断が要ります。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838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第三者による安全管理の評価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949440" y="35021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35021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38862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同4.3。現状は内部での確認に留まっています。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7091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8554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監査ログを施設側で確認する画面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949440" y="48737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8737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未実装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52578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システム運用編17①は、記録するだけでなく定期的に確認することまで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求めています。記録と権限は揃っているので、閲覧画面を足せば満たせます。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612648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62453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未対応の一覧は開示書にそのまま載せています。ご確認のうえ判断してください。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240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187452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健診データを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プライマリケアにどう活かすか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286000" y="39319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毎年集まっている特定健診データを、予防のための判断に変える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4709160"/>
            <a:ext cx="9326880" cy="1143000"/>
          </a:xfrm>
          <a:prstGeom prst="roundRect">
            <a:avLst>
              <a:gd name="adj" fmla="val 640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06040" y="48646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第1部と同じ考え方です。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06040" y="525780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すでに手元にあるデータを、その場の判断につなげる。第1部は施設の服薬記録で、第2部は健診の数値です。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60350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事例：1年間のBRI変化と尿蛋白の新規発現（宮崎県延岡市 2020–2021年）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特定健診は、毎年とられている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受ける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腹囲・血圧・血液検査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7121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5468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結果を渡す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5468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基準値との比較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4865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保健指導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該当者に案内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19659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多くはここで終わる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3880" y="2633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「今」の値は分かるが、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変化は活かされにくい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590288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毎年同じ人を測っているのだから、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「去年からどう変わったか」でリスクを見られないか。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事例：からだの「まるみ」の変化を見る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腹囲と身長だけで計算できる指標 BRI（Body Roundness Index）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見たもの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延岡市の40歳以上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3,819名の2年分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調べたこと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9087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増えた／減った／横ばい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分かったこと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9419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増えた群で尿蛋白が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新たに出やすかった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31520" y="3840480"/>
          <a:ext cx="60350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731520" y="58978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「増えた」だけが統計的に確かめられた差です。「減った」は 1.16 と出ていますが、ばらつきの範囲（0.85〜1.58）が1をまたぐため、差があるとは言えません。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040880" y="3840480"/>
            <a:ext cx="4389120" cy="2560320"/>
          </a:xfrm>
          <a:prstGeom prst="roundRect">
            <a:avLst>
              <a:gd name="adj" fmla="val 28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0" y="4023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尿蛋白に注目する理由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315200" y="44348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腎機能の低下より先に出ることが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多く、早い段階で気づけます。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0" y="51937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1.38倍とは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315200" y="5486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横ばいだった人に比べ、尿蛋白が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新たに出た人の割合が約1.4倍。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体重やBMIの変化を考慮しても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残った差です。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どう現場で使えるか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研究を、健診の場での実践につなげる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道具がいらない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8755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メジャーと身長計だけ。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特別な機器がなくても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どの会場でも計算できる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9087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声のかけ方が変わる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「太っています」ではなく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「去年より増えています」。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本人も実感しやすい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9419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優先順位がつけられる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9419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限られた保健指導の枠を、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リスクが上がった人に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優先して充てられる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983480"/>
            <a:ext cx="10698480" cy="1188720"/>
          </a:xfrm>
          <a:prstGeom prst="roundRect">
            <a:avLst>
              <a:gd name="adj" fmla="val 6154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研究の目的は、論文を書くことではなく、明日の声かけを変えること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言えること、言えないこと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8346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1年間でBRIが増えた人は、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尿蛋白が新たに出やすかった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3931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考慮しても傾向は残った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5029200" cy="3200400"/>
          </a:xfrm>
          <a:prstGeom prst="roundRect">
            <a:avLst>
              <a:gd name="adj" fmla="val 228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言えないこと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720840" y="269748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BRIを下げれば腎臓が守れる、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という因果関係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20840" y="335584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「減った人も危ない」とは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言えない（差が確かめられていない）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20840" y="401421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痩せた理由が生活改善なのか、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病気や低栄養なのかは区別できない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20840" y="46725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1年・延岡市の受診者が対象。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そのまま他地域には広げられない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次に必要なのは、複数地域・長期の追跡と、介入して確かめる研究です。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657600"/>
            <a:ext cx="4754880" cy="47548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ふたつに共通していること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施設で毎日とっている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服薬・症状の記録を、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その場の判断につなげる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健診データの研究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2940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毎年とっている健診の値を、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変化として読み、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予防の優先順位につなげる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すでに手元にあるデータを、次の一手に変える。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ファーマケア 紹介資料</dc:title>
  <dc:subject>PptxGenJS Presentation</dc:subject>
  <dc:creator>PharmaCare</dc:creator>
  <cp:lastModifiedBy>PharmaCare</cp:lastModifiedBy>
  <cp:revision>1</cp:revision>
  <dcterms:created xsi:type="dcterms:W3CDTF">2026-08-26T13:58:21Z</dcterms:created>
  <dcterms:modified xsi:type="dcterms:W3CDTF">2026-08-26T13:58:21Z</dcterms:modified>
</cp:coreProperties>
</file>