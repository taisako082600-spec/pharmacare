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charts/chart1.xml" ContentType="application/vnd.openxmlformats-officedocument.drawingml.chart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4504B"/>
                </a:solidFill>
                <a:latin typeface="Yu Gothic"/>
              </a:defRPr>
            </a:pPr>
            <a:r>
              <a:rPr sz="1400" b="0" i="0" u="none" strike="noStrike">
                <a:solidFill>
                  <a:srgbClr val="14504B"/>
                </a:solidFill>
                <a:latin typeface="Yu Gothic"/>
              </a:rPr>
              <a:t>横ばいの群を1としたときの、尿蛋白の出やすさ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リスクの比</c:v>
                </c:pt>
              </c:strCache>
            </c:strRef>
          </c:tx>
          <c:spPr>
            <a:solidFill>
              <a:srgbClr val="A8CFC9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6211F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A8CFC9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A8CFC9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3E8E84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減った</c:v>
                  </c:pt>
                  <c:pt idx="1">
                    <c:v>横ばい（基準）</c:v>
                  </c:pt>
                  <c:pt idx="2">
                    <c:v>増えた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1.16</c:v>
                </c:pt>
                <c:pt idx="1">
                  <c:v>1</c:v>
                </c:pt>
                <c:pt idx="2">
                  <c:v>1.38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400" u="none">
                  <a:solidFill>
                    <a:srgbClr val="16211F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6211F"/>
                </a:solidFill>
                <a:latin typeface="Yu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8"/>
          <c:min val="0"/>
        </c:scaling>
        <c:delete val="0"/>
        <c:axPos val="b"/>
        <c:majorGridlines>
          <c:spPr>
            <a:ln w="12700" cap="flat">
              <a:solidFill>
                <a:srgbClr val="E4ED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C6B6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資料の要点は「出典がある」ことではなく「専門職でなくても答えられる形に直した」こと。ここが一番手間のかかった部分。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「東京に置いています」で終わらせない。なぜ東京でなければならないかまで言えると、預ける側は判断できる。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隠さず出すことが、医療情報を預かる事業者としての信頼につながる。指摘される前に自分から言う。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この資料の中心メッセージ。データ→研究→現場の実践、という流れを示す。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50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61120" y="-1463040"/>
            <a:ext cx="5120640" cy="5120640"/>
          </a:xfrm>
          <a:prstGeom prst="ellipse">
            <a:avLst/>
          </a:prstGeom>
          <a:solidFill>
            <a:srgbClr val="1B635C"/>
          </a:solidFill>
          <a:ln w="12700">
            <a:solidFill>
              <a:srgbClr val="1B63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424160" y="4023360"/>
            <a:ext cx="2926080" cy="2926080"/>
          </a:xfrm>
          <a:prstGeom prst="ellipse">
            <a:avLst/>
          </a:prstGeom>
          <a:solidFill>
            <a:srgbClr val="1B635C"/>
          </a:solidFill>
          <a:ln w="12700">
            <a:solidFill>
              <a:srgbClr val="1B635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14400" y="1600200"/>
            <a:ext cx="78638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現場のデータを、</a:t>
            </a:r>
            <a:endParaRPr lang="en-US" sz="4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次の一手につなげる</a:t>
            </a:r>
            <a:endParaRPr lang="en-US" sz="4400" dirty="0"/>
          </a:p>
        </p:txBody>
      </p:sp>
      <p:sp>
        <p:nvSpPr>
          <p:cNvPr id="5" name="Shape 3"/>
          <p:cNvSpPr/>
          <p:nvPr/>
        </p:nvSpPr>
        <p:spPr>
          <a:xfrm>
            <a:off x="914400" y="3931920"/>
            <a:ext cx="36576" cy="1371600"/>
          </a:xfrm>
          <a:prstGeom prst="rect">
            <a:avLst/>
          </a:prstGeom>
          <a:solidFill>
            <a:srgbClr val="D98A2B"/>
          </a:solidFill>
          <a:ln w="12700">
            <a:solidFill>
              <a:srgbClr val="D98A2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34440" y="3950208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第1部　ファーマケア — 介護施設と薬剤師をつなぐ服薬管理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234440" y="46177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第2部　健診データをプライマリケアにどう活かすか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14400" y="571500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8CFC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薬剤師　迫口 大晟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50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2423160"/>
            <a:ext cx="1005840" cy="1005840"/>
          </a:xfrm>
          <a:prstGeom prst="ellipse">
            <a:avLst/>
          </a:prstGeom>
          <a:solidFill>
            <a:srgbClr val="D98A2B"/>
          </a:solidFill>
          <a:ln w="12700">
            <a:solidFill>
              <a:srgbClr val="D98A2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14400" y="242316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2286000" y="2377440"/>
            <a:ext cx="8686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ファーマケア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2286000" y="3364992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A8CFC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介護施設と薬剤師をつなぐ、服薬管理プラットフォーム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道具は、もうある。つないだものが無い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1225296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施設と薬局まわりの既存サービスを調べたうえでの整理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731520" y="1783080"/>
            <a:ext cx="3413455" cy="3246120"/>
          </a:xfrm>
          <a:prstGeom prst="roundRect">
            <a:avLst>
              <a:gd name="adj" fmla="val 2254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1965960"/>
            <a:ext cx="30019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電子お薬手帳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05840" y="2395728"/>
            <a:ext cx="29562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EPARK・日本調剤・さくら薬局ほか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005840" y="2788920"/>
            <a:ext cx="295625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薬の履歴を本人が持ち歩ける。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血圧などを記録できるものもある。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005840" y="3767328"/>
            <a:ext cx="2864815" cy="13716"/>
          </a:xfrm>
          <a:prstGeom prst="rect">
            <a:avLst/>
          </a:prstGeom>
          <a:solidFill>
            <a:srgbClr val="A8CFC9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05840" y="3886200"/>
            <a:ext cx="295625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8A6F5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患者本人のための道具。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8A6F5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介護職員が入居者の分を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8A6F5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扱う想定になっていない。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373575" y="1783080"/>
            <a:ext cx="3413455" cy="3246120"/>
          </a:xfrm>
          <a:prstGeom prst="roundRect">
            <a:avLst>
              <a:gd name="adj" fmla="val 2254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47895" y="1965960"/>
            <a:ext cx="30019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施設向け服薬管理システム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647895" y="2395728"/>
            <a:ext cx="29562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服やっくん・ピクスリー・楽くすりほか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647895" y="2788920"/>
            <a:ext cx="295625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QRで薬を取り込み、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飲み忘れ・誤薬を防ぐ。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薬局と施設をつなぐものも出てきた。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647895" y="3767328"/>
            <a:ext cx="2864815" cy="13716"/>
          </a:xfrm>
          <a:prstGeom prst="rect">
            <a:avLst/>
          </a:prstGeom>
          <a:solidFill>
            <a:srgbClr val="A8CFC9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47895" y="3886200"/>
            <a:ext cx="295625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8A6F5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配薬を正確にすることが主眼。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8A6F5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体調の記録や、症状が出たときの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8A6F5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判断までは踏み込まない。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015630" y="1783080"/>
            <a:ext cx="3413455" cy="3246120"/>
          </a:xfrm>
          <a:prstGeom prst="roundRect">
            <a:avLst>
              <a:gd name="adj" fmla="val 2254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89950" y="1965960"/>
            <a:ext cx="30019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LINE などの汎用チャット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289950" y="2395728"/>
            <a:ext cx="29562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実際に多くの現場で使われている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289950" y="2788920"/>
            <a:ext cx="295625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とにかくすぐ聞ける。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導入の手間がない。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8289950" y="3767328"/>
            <a:ext cx="2864815" cy="13716"/>
          </a:xfrm>
          <a:prstGeom prst="rect">
            <a:avLst/>
          </a:prstGeom>
          <a:solidFill>
            <a:srgbClr val="A8CFC9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289950" y="3886200"/>
            <a:ext cx="295625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8A6F5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医療情報を扱う前提の設計ではなく、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8A6F5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やり取りが記録として残らない。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731520" y="5257800"/>
            <a:ext cx="10698480" cy="914400"/>
          </a:xfrm>
          <a:prstGeom prst="roundRect">
            <a:avLst>
              <a:gd name="adj" fmla="val 8000"/>
            </a:avLst>
          </a:prstGeom>
          <a:solidFill>
            <a:srgbClr val="14504B"/>
          </a:solidFill>
          <a:ln w="12700">
            <a:solidFill>
              <a:srgbClr val="14504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051560" y="525780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薬・体調・相談・受診の判断が、それぞれ別の場所にある。それを頭の中でつないでいるのが現場の職員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731520" y="6291072"/>
            <a:ext cx="10698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出典: 厚生労働省「電子版お薬手帳サービス一覧」(2026年8月1日現在)、各サービス公式サイト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なぜ、今つくるのか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1225296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制度の流れが、施設と薬局を近づけている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731520" y="1874520"/>
            <a:ext cx="475488" cy="475488"/>
          </a:xfrm>
          <a:prstGeom prst="ellipse">
            <a:avLst/>
          </a:prstGeom>
          <a:solidFill>
            <a:srgbClr val="3E8E84"/>
          </a:solidFill>
          <a:ln w="12700">
            <a:solidFill>
              <a:srgbClr val="3E8E8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87452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417320" y="1828800"/>
            <a:ext cx="9966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在宅・施設への訪問が国の方向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417320" y="2240280"/>
            <a:ext cx="9966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薬剤師の役割は「薬を渡す」から「渡したあとを見る」へ移っている。</a:t>
            </a:r>
            <a:endParaRPr lang="en-US" sz="13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施設に足を運ぶ機会は今後さらに増える。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731520" y="3172968"/>
            <a:ext cx="475488" cy="475488"/>
          </a:xfrm>
          <a:prstGeom prst="ellipse">
            <a:avLst/>
          </a:prstGeom>
          <a:solidFill>
            <a:srgbClr val="3E8E84"/>
          </a:solidFill>
          <a:ln w="12700">
            <a:solidFill>
              <a:srgbClr val="3E8E8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317296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417320" y="3127248"/>
            <a:ext cx="9966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門前から面へ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417320" y="3538728"/>
            <a:ext cx="9966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特定の病院の前に構える薬局から、地域のどの処方箋も受ける薬局へ。</a:t>
            </a:r>
            <a:endParaRPr lang="en-US" sz="13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処方元に電話すれば済んでいたことが、済まなくなる。</a:t>
            </a:r>
            <a:endParaRPr lang="en-US" sz="13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患者の薬を薬局側で一元的に把握する必要が出てくる。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31520" y="4471416"/>
            <a:ext cx="475488" cy="475488"/>
          </a:xfrm>
          <a:prstGeom prst="ellipse">
            <a:avLst/>
          </a:prstGeom>
          <a:solidFill>
            <a:srgbClr val="3E8E84"/>
          </a:solidFill>
          <a:ln w="12700">
            <a:solidFill>
              <a:srgbClr val="3E8E8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447141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417320" y="4425696"/>
            <a:ext cx="9966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服薬期間中のフォローアップは、すでに義務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417320" y="4837176"/>
            <a:ext cx="9966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2020年9月施行の改正薬機法・薬剤師法で、渡したあとの服薬状況を</a:t>
            </a:r>
            <a:endParaRPr lang="en-US" sz="13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継続的に把握することが薬剤師の責務になった。</a:t>
            </a:r>
            <a:endParaRPr lang="en-US" sz="13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ただし現場の手段は電話が中心で、続けるのが難しい。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731520" y="5760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51560" y="5760720"/>
            <a:ext cx="10058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義務だから電話をかけるのではなく、続けられる形にする。それが結果として、選ばれる薬局につながる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日々の記録から、判断の支援まで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1225296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記録する・相談する・判断を助ける。ばらばらだったものが、ひとつの画面の中でつながります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731520" y="1920240"/>
            <a:ext cx="2503170" cy="1965960"/>
          </a:xfrm>
          <a:prstGeom prst="roundRect">
            <a:avLst>
              <a:gd name="adj" fmla="val 3721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50976" y="2121408"/>
            <a:ext cx="402336" cy="402336"/>
          </a:xfrm>
          <a:prstGeom prst="ellipse">
            <a:avLst/>
          </a:prstGeom>
          <a:solidFill>
            <a:srgbClr val="3E8E84"/>
          </a:solidFill>
          <a:ln w="12700">
            <a:solidFill>
              <a:srgbClr val="3E8E8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50976" y="212140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32688" y="2615184"/>
            <a:ext cx="218313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お薬手帳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32688" y="2999232"/>
            <a:ext cx="222885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QRコードで5秒登録。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変更履歴も自動で残る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463290" y="1920240"/>
            <a:ext cx="2503170" cy="1965960"/>
          </a:xfrm>
          <a:prstGeom prst="roundRect">
            <a:avLst>
              <a:gd name="adj" fmla="val 3721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82746" y="2121408"/>
            <a:ext cx="402336" cy="402336"/>
          </a:xfrm>
          <a:prstGeom prst="ellipse">
            <a:avLst/>
          </a:prstGeom>
          <a:solidFill>
            <a:srgbClr val="3E8E84"/>
          </a:solidFill>
          <a:ln w="12700">
            <a:solidFill>
              <a:srgbClr val="3E8E8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82746" y="212140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664458" y="2615184"/>
            <a:ext cx="218313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服薬記録・バイタル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664458" y="2999232"/>
            <a:ext cx="222885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服薬の実施、血圧・体温・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SpO₂を日々の記録として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195060" y="1920240"/>
            <a:ext cx="2503170" cy="1965960"/>
          </a:xfrm>
          <a:prstGeom prst="roundRect">
            <a:avLst>
              <a:gd name="adj" fmla="val 3721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14516" y="2121408"/>
            <a:ext cx="402336" cy="402336"/>
          </a:xfrm>
          <a:prstGeom prst="ellipse">
            <a:avLst/>
          </a:prstGeom>
          <a:solidFill>
            <a:srgbClr val="3E8E84"/>
          </a:solidFill>
          <a:ln w="12700">
            <a:solidFill>
              <a:srgbClr val="3E8E8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14516" y="212140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396228" y="2615184"/>
            <a:ext cx="218313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チャット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396228" y="2999232"/>
            <a:ext cx="222885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入居者ごとの相談ルーム。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何の薬の話かが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最初から共有されている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926830" y="1920240"/>
            <a:ext cx="2503170" cy="1965960"/>
          </a:xfrm>
          <a:prstGeom prst="roundRect">
            <a:avLst>
              <a:gd name="adj" fmla="val 3721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146286" y="2121408"/>
            <a:ext cx="402336" cy="402336"/>
          </a:xfrm>
          <a:prstGeom prst="ellipse">
            <a:avLst/>
          </a:prstGeom>
          <a:solidFill>
            <a:srgbClr val="3E8E84"/>
          </a:solidFill>
          <a:ln w="12700">
            <a:solidFill>
              <a:srgbClr val="3E8E8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6286" y="212140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9127998" y="2615184"/>
            <a:ext cx="218313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カレンダー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9127998" y="2999232"/>
            <a:ext cx="222885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薬剤師の訪問予定を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施設側にも表示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731520" y="4069080"/>
            <a:ext cx="2503170" cy="1965960"/>
          </a:xfrm>
          <a:prstGeom prst="roundRect">
            <a:avLst>
              <a:gd name="adj" fmla="val 3721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50976" y="4270248"/>
            <a:ext cx="402336" cy="402336"/>
          </a:xfrm>
          <a:prstGeom prst="ellipse">
            <a:avLst/>
          </a:prstGeom>
          <a:solidFill>
            <a:srgbClr val="D98A2B"/>
          </a:solidFill>
          <a:ln w="12700">
            <a:solidFill>
              <a:srgbClr val="D98A2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50976" y="42702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932688" y="4764024"/>
            <a:ext cx="218313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服薬の注意点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932688" y="5148072"/>
            <a:ext cx="222885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添付文書から該当箇所だけ。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腎機能・肝機能・年齢に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合わせて出し分ける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3463290" y="4069080"/>
            <a:ext cx="2503170" cy="1965960"/>
          </a:xfrm>
          <a:prstGeom prst="roundRect">
            <a:avLst>
              <a:gd name="adj" fmla="val 3721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82746" y="4270248"/>
            <a:ext cx="402336" cy="402336"/>
          </a:xfrm>
          <a:prstGeom prst="ellipse">
            <a:avLst/>
          </a:prstGeom>
          <a:solidFill>
            <a:srgbClr val="D98A2B"/>
          </a:solidFill>
          <a:ln w="12700">
            <a:solidFill>
              <a:srgbClr val="D98A2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82746" y="42702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3664458" y="4764024"/>
            <a:ext cx="218313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症状トリアージ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3664458" y="5148072"/>
            <a:ext cx="222885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体調不良時の対応の目安を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3段階で提示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6195060" y="4069080"/>
            <a:ext cx="2503170" cy="1965960"/>
          </a:xfrm>
          <a:prstGeom prst="roundRect">
            <a:avLst>
              <a:gd name="adj" fmla="val 3721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414516" y="4270248"/>
            <a:ext cx="402336" cy="402336"/>
          </a:xfrm>
          <a:prstGeom prst="ellipse">
            <a:avLst/>
          </a:prstGeom>
          <a:solidFill>
            <a:srgbClr val="3E8E84"/>
          </a:solidFill>
          <a:ln w="12700">
            <a:solidFill>
              <a:srgbClr val="3E8E84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14516" y="42702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6396228" y="4764024"/>
            <a:ext cx="218313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家族への共有</a:t>
            </a:r>
            <a:endParaRPr lang="en-US" sz="1500" dirty="0"/>
          </a:p>
        </p:txBody>
      </p:sp>
      <p:sp>
        <p:nvSpPr>
          <p:cNvPr id="38" name="Text 36"/>
          <p:cNvSpPr/>
          <p:nvPr/>
        </p:nvSpPr>
        <p:spPr>
          <a:xfrm>
            <a:off x="6396228" y="5148072"/>
            <a:ext cx="222885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処方とバイタルを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ご家族が閲覧できる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8926830" y="4069080"/>
            <a:ext cx="2503170" cy="1965960"/>
          </a:xfrm>
          <a:prstGeom prst="roundRect">
            <a:avLst>
              <a:gd name="adj" fmla="val 3721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9146286" y="4270248"/>
            <a:ext cx="402336" cy="402336"/>
          </a:xfrm>
          <a:prstGeom prst="ellipse">
            <a:avLst/>
          </a:prstGeom>
          <a:solidFill>
            <a:srgbClr val="3E8E84"/>
          </a:solidFill>
          <a:ln w="12700">
            <a:solidFill>
              <a:srgbClr val="3E8E84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9146286" y="42702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9127998" y="4764024"/>
            <a:ext cx="218313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記録の書面出力</a:t>
            </a:r>
            <a:endParaRPr lang="en-US" sz="1500" dirty="0"/>
          </a:p>
        </p:txBody>
      </p:sp>
      <p:sp>
        <p:nvSpPr>
          <p:cNvPr id="43" name="Text 41"/>
          <p:cNvSpPr/>
          <p:nvPr/>
        </p:nvSpPr>
        <p:spPr>
          <a:xfrm>
            <a:off x="9127998" y="5148072"/>
            <a:ext cx="222885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保管中の記録を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そのまま印刷できる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731520" y="61081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⑤⑥はAIを使う機能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731520" y="6400800"/>
            <a:ext cx="10698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②と⑤がつながっているのがこのアプリの要。「血圧が下がってきたので降圧薬を見直しては」という相談が、数字を見ながらできます。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施設をつくり、招待コードでつながる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731520" y="2057400"/>
            <a:ext cx="1920240" cy="1828800"/>
          </a:xfrm>
          <a:prstGeom prst="roundRect">
            <a:avLst>
              <a:gd name="adj" fmla="val 4000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417320" y="2286000"/>
            <a:ext cx="566928" cy="566928"/>
          </a:xfrm>
          <a:prstGeom prst="ellipse">
            <a:avLst/>
          </a:prstGeom>
          <a:solidFill>
            <a:srgbClr val="14504B"/>
          </a:solidFill>
          <a:ln w="12700">
            <a:solidFill>
              <a:srgbClr val="14504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417320" y="22860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49808" y="3063240"/>
            <a:ext cx="18836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施設をつくる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2688336" y="2880360"/>
            <a:ext cx="219456" cy="237744"/>
          </a:xfrm>
          <a:prstGeom prst="rightArrow">
            <a:avLst/>
          </a:prstGeom>
          <a:solidFill>
            <a:srgbClr val="A8CFC9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971800" y="2057400"/>
            <a:ext cx="1920240" cy="1828800"/>
          </a:xfrm>
          <a:prstGeom prst="roundRect">
            <a:avLst>
              <a:gd name="adj" fmla="val 4000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57600" y="2286000"/>
            <a:ext cx="566928" cy="566928"/>
          </a:xfrm>
          <a:prstGeom prst="ellipse">
            <a:avLst/>
          </a:prstGeom>
          <a:solidFill>
            <a:srgbClr val="3E8E84"/>
          </a:solidFill>
          <a:ln w="12700">
            <a:solidFill>
              <a:srgbClr val="3E8E8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57600" y="22860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2990088" y="3063240"/>
            <a:ext cx="18836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招待コード発行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928616" y="2880360"/>
            <a:ext cx="219456" cy="237744"/>
          </a:xfrm>
          <a:prstGeom prst="rightArrow">
            <a:avLst/>
          </a:prstGeom>
          <a:solidFill>
            <a:srgbClr val="A8CFC9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212080" y="2057400"/>
            <a:ext cx="1920240" cy="1828800"/>
          </a:xfrm>
          <a:prstGeom prst="roundRect">
            <a:avLst>
              <a:gd name="adj" fmla="val 4000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897880" y="2286000"/>
            <a:ext cx="566928" cy="566928"/>
          </a:xfrm>
          <a:prstGeom prst="ellipse">
            <a:avLst/>
          </a:prstGeom>
          <a:solidFill>
            <a:srgbClr val="3E8E84"/>
          </a:solidFill>
          <a:ln w="12700">
            <a:solidFill>
              <a:srgbClr val="3E8E8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897880" y="22860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5230368" y="3063240"/>
            <a:ext cx="18836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職員が参加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7168896" y="2880360"/>
            <a:ext cx="219456" cy="237744"/>
          </a:xfrm>
          <a:prstGeom prst="rightArrow">
            <a:avLst/>
          </a:prstGeom>
          <a:solidFill>
            <a:srgbClr val="A8CFC9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452360" y="2057400"/>
            <a:ext cx="1920240" cy="1828800"/>
          </a:xfrm>
          <a:prstGeom prst="roundRect">
            <a:avLst>
              <a:gd name="adj" fmla="val 4000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138160" y="2286000"/>
            <a:ext cx="566928" cy="566928"/>
          </a:xfrm>
          <a:prstGeom prst="ellipse">
            <a:avLst/>
          </a:prstGeom>
          <a:solidFill>
            <a:srgbClr val="3E8E84"/>
          </a:solidFill>
          <a:ln w="12700">
            <a:solidFill>
              <a:srgbClr val="3E8E8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138160" y="22860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7470648" y="3063240"/>
            <a:ext cx="18836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入居者を登録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9409176" y="2880360"/>
            <a:ext cx="219456" cy="237744"/>
          </a:xfrm>
          <a:prstGeom prst="rightArrow">
            <a:avLst/>
          </a:prstGeom>
          <a:solidFill>
            <a:srgbClr val="A8CFC9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692640" y="2057400"/>
            <a:ext cx="1920240" cy="1828800"/>
          </a:xfrm>
          <a:prstGeom prst="roundRect">
            <a:avLst>
              <a:gd name="adj" fmla="val 4000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0378440" y="2286000"/>
            <a:ext cx="566928" cy="566928"/>
          </a:xfrm>
          <a:prstGeom prst="ellipse">
            <a:avLst/>
          </a:prstGeom>
          <a:solidFill>
            <a:srgbClr val="D98A2B"/>
          </a:solidFill>
          <a:ln w="12700">
            <a:solidFill>
              <a:srgbClr val="D98A2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378440" y="22860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9710928" y="3063240"/>
            <a:ext cx="18836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家族を招待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731520" y="4343400"/>
            <a:ext cx="10698480" cy="164592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CE6E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051560" y="4553712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役割ごとに、見えるものが違う</a:t>
            </a:r>
            <a:endParaRPr lang="en-US" sz="1900" dirty="0"/>
          </a:p>
        </p:txBody>
      </p:sp>
      <p:sp>
        <p:nvSpPr>
          <p:cNvPr id="29" name="Text 27"/>
          <p:cNvSpPr/>
          <p:nvPr/>
        </p:nvSpPr>
        <p:spPr>
          <a:xfrm>
            <a:off x="1051560" y="502920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E8E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薬剤師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1051560" y="5394960"/>
            <a:ext cx="3337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薬の登録・変更、相談対応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4526280" y="502920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E8E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介護士・看護師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4526280" y="5394960"/>
            <a:ext cx="3337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服薬記録、バイタル、症状相談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8001000" y="502920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E8E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家族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8001000" y="5394960"/>
            <a:ext cx="3337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処方とバイタルの閲覧のみ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体調不良のとき、様子を見てよいか迷わない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1225296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症状トリアージ ― 聞き取った内容から、対応の目安を3段階で示します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731520" y="1874520"/>
            <a:ext cx="5029200" cy="2834640"/>
          </a:xfrm>
          <a:prstGeom prst="roundRect">
            <a:avLst>
              <a:gd name="adj" fmla="val 2581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51560" y="208483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スタッフが入力する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1097280" y="2697480"/>
            <a:ext cx="365760" cy="365760"/>
          </a:xfrm>
          <a:prstGeom prst="ellipse">
            <a:avLst/>
          </a:prstGeom>
          <a:solidFill>
            <a:srgbClr val="3E8E84"/>
          </a:solidFill>
          <a:ln w="12700">
            <a:solidFill>
              <a:srgbClr val="3E8E8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7280" y="26974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627632" y="269748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症状カテゴリー（17種類）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1097280" y="3300984"/>
            <a:ext cx="365760" cy="365760"/>
          </a:xfrm>
          <a:prstGeom prst="ellipse">
            <a:avLst/>
          </a:prstGeom>
          <a:solidFill>
            <a:srgbClr val="3E8E84"/>
          </a:solidFill>
          <a:ln w="12700">
            <a:solidFill>
              <a:srgbClr val="3E8E8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0" y="330098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627632" y="3300984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重症度・発症時刻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1097280" y="3904488"/>
            <a:ext cx="365760" cy="365760"/>
          </a:xfrm>
          <a:prstGeom prst="ellipse">
            <a:avLst/>
          </a:prstGeom>
          <a:solidFill>
            <a:srgbClr val="3E8E84"/>
          </a:solidFill>
          <a:ln w="12700">
            <a:solidFill>
              <a:srgbClr val="3E8E8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97280" y="39044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627632" y="3904488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当てはまる危険信号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897880" y="3063240"/>
            <a:ext cx="411480" cy="384048"/>
          </a:xfrm>
          <a:prstGeom prst="rightArrow">
            <a:avLst/>
          </a:prstGeom>
          <a:solidFill>
            <a:srgbClr val="D98A2B"/>
          </a:solidFill>
          <a:ln w="12700">
            <a:solidFill>
              <a:srgbClr val="D98A2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92240" y="1874520"/>
            <a:ext cx="4937760" cy="859536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748272" y="2130552"/>
            <a:ext cx="329184" cy="329184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242048" y="1965960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E7D4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市販薬で様子を見る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7242048" y="2331720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緊急性は低いと考えられる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492240" y="2843784"/>
            <a:ext cx="4937760" cy="859536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2700">
            <a:solidFill>
              <a:srgbClr val="C99A2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748272" y="3099816"/>
            <a:ext cx="329184" cy="329184"/>
          </a:xfrm>
          <a:prstGeom prst="ellipse">
            <a:avLst/>
          </a:prstGeom>
          <a:solidFill>
            <a:srgbClr val="C99A22"/>
          </a:solidFill>
          <a:ln w="12700">
            <a:solidFill>
              <a:srgbClr val="C99A2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242048" y="293522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99A2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薬剤師に相談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7242048" y="3300984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ワンタップで相談へつながる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492240" y="3813048"/>
            <a:ext cx="4937760" cy="859536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2700">
            <a:solidFill>
              <a:srgbClr val="B23A2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748272" y="4069080"/>
            <a:ext cx="329184" cy="329184"/>
          </a:xfrm>
          <a:prstGeom prst="ellipse">
            <a:avLst/>
          </a:prstGeom>
          <a:solidFill>
            <a:srgbClr val="B23A2F"/>
          </a:solidFill>
          <a:ln w="12700">
            <a:solidFill>
              <a:srgbClr val="B23A2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242048" y="3904488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23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医療機関を受診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7242048" y="4270248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速やかに受診の手配を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731520" y="4937760"/>
            <a:ext cx="10698480" cy="1234440"/>
          </a:xfrm>
          <a:prstGeom prst="roundRect">
            <a:avLst>
              <a:gd name="adj" fmla="val 5926"/>
            </a:avLst>
          </a:prstGeom>
          <a:solidFill>
            <a:srgbClr val="14504B"/>
          </a:solidFill>
          <a:ln w="12700">
            <a:solidFill>
              <a:srgbClr val="14504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097280" y="512064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判定はルールで決まる。AIは説明文をつくるだけ</a:t>
            </a:r>
            <a:endParaRPr lang="en-US" sz="1900" dirty="0"/>
          </a:p>
        </p:txBody>
      </p:sp>
      <p:sp>
        <p:nvSpPr>
          <p:cNvPr id="30" name="Text 28"/>
          <p:cNvSpPr/>
          <p:nvPr/>
        </p:nvSpPr>
        <p:spPr>
          <a:xfrm>
            <a:off x="1097280" y="5559552"/>
            <a:ext cx="10058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8CFC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危険信号が1つでもあれば、重症度によらず受診をすすめる側に倒します。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医師向けの基準を、介護職が答えられる言葉に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1225296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危険信号118項目は、すべて公開資料か医学書に紐づいています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731520" y="1965960"/>
            <a:ext cx="3429000" cy="1920240"/>
          </a:xfrm>
          <a:prstGeom prst="roundRect">
            <a:avLst>
              <a:gd name="adj" fmla="val 3810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2176272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厚生労働省の公開資料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1005840" y="292608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症候別トリアージの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枠組みと症候の分類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434840" y="1965960"/>
            <a:ext cx="3429000" cy="1920240"/>
          </a:xfrm>
          <a:prstGeom prst="roundRect">
            <a:avLst>
              <a:gd name="adj" fmla="val 3810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709160" y="2176272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アルゴリズムで考える</a:t>
            </a:r>
            <a:endParaRPr lang="en-US" sz="17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薬剤師の臨床判断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4709160" y="292608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15症候それぞれの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「見逃してはいけない疾患」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138160" y="1965960"/>
            <a:ext cx="3429000" cy="1920240"/>
          </a:xfrm>
          <a:prstGeom prst="roundRect">
            <a:avLst>
              <a:gd name="adj" fmla="val 3810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412480" y="2176272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薬学臨床推論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8412480" y="292608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なぜその判定になるかの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考え方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731520" y="4023360"/>
            <a:ext cx="3429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D98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118</a:t>
            </a:r>
            <a:endParaRPr lang="en-US" sz="5400" dirty="0"/>
          </a:p>
        </p:txBody>
      </p:sp>
      <p:sp>
        <p:nvSpPr>
          <p:cNvPr id="14" name="Text 12"/>
          <p:cNvSpPr/>
          <p:nvPr/>
        </p:nvSpPr>
        <p:spPr>
          <a:xfrm>
            <a:off x="731520" y="4773168"/>
            <a:ext cx="3429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実装した危険信号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434840" y="4023360"/>
            <a:ext cx="3429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D98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5400" dirty="0"/>
          </a:p>
        </p:txBody>
      </p:sp>
      <p:sp>
        <p:nvSpPr>
          <p:cNvPr id="16" name="Text 14"/>
          <p:cNvSpPr/>
          <p:nvPr/>
        </p:nvSpPr>
        <p:spPr>
          <a:xfrm>
            <a:off x="4434840" y="4773168"/>
            <a:ext cx="3429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対応する症候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8138160" y="4023360"/>
            <a:ext cx="3429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D98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5400" dirty="0"/>
          </a:p>
        </p:txBody>
      </p:sp>
      <p:sp>
        <p:nvSpPr>
          <p:cNvPr id="18" name="Text 16"/>
          <p:cNvSpPr/>
          <p:nvPr/>
        </p:nvSpPr>
        <p:spPr>
          <a:xfrm>
            <a:off x="8138160" y="4773168"/>
            <a:ext cx="3429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照合した文献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731520" y="5257800"/>
            <a:ext cx="10698480" cy="1051560"/>
          </a:xfrm>
          <a:prstGeom prst="roundRect">
            <a:avLst>
              <a:gd name="adj" fmla="val 6957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97280" y="5413248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例：「Centorの基準で3点以上」→「口を大きく開けられない」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1097280" y="5815584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白苔を見る、リンパ節を触る。診察が要る指標は使えないので、見ればわかる質問に置き換えています。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50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23444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AIに、医学的な判断はさせない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822960" y="210312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8CFC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もっともらしい誤りが混ざることを、医療では許容できないため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822960" y="2834640"/>
            <a:ext cx="5029200" cy="2880360"/>
          </a:xfrm>
          <a:prstGeom prst="roundRect">
            <a:avLst>
              <a:gd name="adj" fmla="val 2540"/>
            </a:avLst>
          </a:prstGeom>
          <a:solidFill>
            <a:srgbClr val="1B635C"/>
          </a:solidFill>
          <a:ln w="12700">
            <a:solidFill>
              <a:srgbClr val="1B635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43000" y="3090672"/>
            <a:ext cx="502920" cy="502920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43000" y="30906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✓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783080" y="3127248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AIがやること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1170432" y="3794760"/>
            <a:ext cx="4526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A8CFC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添付文書の該当箇所を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A8CFC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探して見せる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170432" y="4416552"/>
            <a:ext cx="4526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A8CFC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複数の薬に共通する注意点を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A8CFC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重複を省いて整理する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172200" y="2834640"/>
            <a:ext cx="5029200" cy="2880360"/>
          </a:xfrm>
          <a:prstGeom prst="roundRect">
            <a:avLst>
              <a:gd name="adj" fmla="val 2540"/>
            </a:avLst>
          </a:prstGeom>
          <a:solidFill>
            <a:srgbClr val="1B635C"/>
          </a:solidFill>
          <a:ln w="12700">
            <a:solidFill>
              <a:srgbClr val="1B635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92240" y="3090672"/>
            <a:ext cx="502920" cy="502920"/>
          </a:xfrm>
          <a:prstGeom prst="ellipse">
            <a:avLst/>
          </a:prstGeom>
          <a:solidFill>
            <a:srgbClr val="B23A2F"/>
          </a:solidFill>
          <a:ln w="12700">
            <a:solidFill>
              <a:srgbClr val="B23A2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92240" y="30906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✕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7132320" y="3127248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AIがやらないこと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6519672" y="3794760"/>
            <a:ext cx="4526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A8CFC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書かれていないことを補う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519672" y="4416552"/>
            <a:ext cx="4526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A8CFC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新しい医学的判断をする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519672" y="5038344"/>
            <a:ext cx="4526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A8CFC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トリアージの判定を決める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22960" y="598932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AIが使えない状況でも、判定そのものはアプリだけで返ります。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患者情報を扱うということ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1225296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2つのガイドラインに照らして確認しています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731520" y="1828800"/>
            <a:ext cx="5212080" cy="2057400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12700">
            <a:solidFill>
              <a:srgbClr val="DCE6E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1993392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E8E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厚生労働省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05840" y="233172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医療情報システムの</a:t>
            </a:r>
            <a:endParaRPr lang="en-US" sz="1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安全管理に関するガイドライン 第7.0版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3127248"/>
            <a:ext cx="4663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守るのは利用施設。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それを支える機能を提供します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217920" y="1828800"/>
            <a:ext cx="5212080" cy="2057400"/>
          </a:xfrm>
          <a:prstGeom prst="roundRect">
            <a:avLst>
              <a:gd name="adj" fmla="val 3556"/>
            </a:avLst>
          </a:prstGeom>
          <a:solidFill>
            <a:srgbClr val="F1F6F5"/>
          </a:solidFill>
          <a:ln w="12700">
            <a:solidFill>
              <a:srgbClr val="D98A2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92240" y="1993392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総務省・経済産業省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92240" y="233172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医療情報を取り扱う情報システム・サービスの</a:t>
            </a:r>
            <a:endParaRPr lang="en-US" sz="1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提供事業者における安全管理ガイドライン 第2.0版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492240" y="3127248"/>
            <a:ext cx="4663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こちらは私たちが名宛人。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提供者として直接守る側です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2011680"/>
          </a:xfrm>
          <a:prstGeom prst="roundRect">
            <a:avLst>
              <a:gd name="adj" fmla="val 3636"/>
            </a:avLst>
          </a:prstGeom>
          <a:solidFill>
            <a:srgbClr val="14504B"/>
          </a:solidFill>
          <a:ln w="12700">
            <a:solidFill>
              <a:srgbClr val="14504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97280" y="4389120"/>
            <a:ext cx="9601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どちらも「何を求めているか」から実装を決めています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1097280" y="4846320"/>
            <a:ext cx="9692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8CFC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条文を先に読み、そこから必要な機能を起こしました。ガイドラインごとに、対応表と、その中身をかみ砕いた解説を1枚ずつ置きます。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097280" y="5440680"/>
            <a:ext cx="9692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できていないことも、この章の最後にそのまま並べています。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施設が守る側の要求に、機能で応える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1225296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医療情報システムの安全管理に関するガイドライン 第7.0版（厚生労働省）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005840" y="187452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ガイドラインが求めていること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583680" y="187452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実装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2286000"/>
            <a:ext cx="10698480" cy="694944"/>
          </a:xfrm>
          <a:prstGeom prst="roundRect">
            <a:avLst>
              <a:gd name="adj" fmla="val 10526"/>
            </a:avLst>
          </a:prstGeom>
          <a:solidFill>
            <a:srgbClr val="F1F6F5"/>
          </a:solidFill>
          <a:ln w="12700">
            <a:solidFill>
              <a:srgbClr val="DCE6E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237744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システム運用編 14 遵守事項⑤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05840" y="2633472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令和9年4月までに二要素認証を採用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263640" y="2542032"/>
            <a:ext cx="256032" cy="201168"/>
          </a:xfrm>
          <a:prstGeom prst="rightArrow">
            <a:avLst/>
          </a:prstGeom>
          <a:solidFill>
            <a:srgbClr val="A8CFC9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83680" y="2505456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認証アプリの6桁（TOTP）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731520" y="3072384"/>
            <a:ext cx="10698480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DCE6E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05840" y="3163824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 14.2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005840" y="3419856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アクセス権限は必要最小限に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263640" y="3328416"/>
            <a:ext cx="256032" cy="201168"/>
          </a:xfrm>
          <a:prstGeom prst="rightArrow">
            <a:avLst/>
          </a:prstGeom>
          <a:solidFill>
            <a:srgbClr val="A8CFC9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83680" y="3291840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Firestoreルールで施設・ロール単位に分離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731520" y="3858768"/>
            <a:ext cx="10698480" cy="694944"/>
          </a:xfrm>
          <a:prstGeom prst="roundRect">
            <a:avLst>
              <a:gd name="adj" fmla="val 10526"/>
            </a:avLst>
          </a:prstGeom>
          <a:solidFill>
            <a:srgbClr val="F1F6F5"/>
          </a:solidFill>
          <a:ln w="12700">
            <a:solidFill>
              <a:srgbClr val="DCE6E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05840" y="3950208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 17①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005840" y="4206240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誰がいつ何を見たかを残す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263640" y="4114800"/>
            <a:ext cx="256032" cy="201168"/>
          </a:xfrm>
          <a:prstGeom prst="rightArrow">
            <a:avLst/>
          </a:prstGeom>
          <a:solidFill>
            <a:srgbClr val="A8CFC9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583680" y="4078224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監査ログ。変更は前後の値まで記録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731520" y="4645152"/>
            <a:ext cx="10698480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DCE6E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05840" y="473659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 17②③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005840" y="4992624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ログの改ざんを防ぐ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6263640" y="4901184"/>
            <a:ext cx="256032" cy="201168"/>
          </a:xfrm>
          <a:prstGeom prst="rightArrow">
            <a:avLst/>
          </a:prstGeom>
          <a:solidFill>
            <a:srgbClr val="A8CFC9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583680" y="4864608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追記のみ。更新と削除を禁止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731520" y="5431536"/>
            <a:ext cx="10698480" cy="694944"/>
          </a:xfrm>
          <a:prstGeom prst="roundRect">
            <a:avLst>
              <a:gd name="adj" fmla="val 10526"/>
            </a:avLst>
          </a:prstGeom>
          <a:solidFill>
            <a:srgbClr val="F1F6F5"/>
          </a:solidFill>
          <a:ln w="12700">
            <a:solidFill>
              <a:srgbClr val="DCE6E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005840" y="5522976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 12.3.2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1005840" y="5779008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離席時に画面をロックする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6263640" y="5687568"/>
            <a:ext cx="256032" cy="201168"/>
          </a:xfrm>
          <a:prstGeom prst="rightArrow">
            <a:avLst/>
          </a:prstGeom>
          <a:solidFill>
            <a:srgbClr val="A8CFC9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583680" y="5650992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15分の無操作で自動サインアウト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731520" y="635508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二要素認証はアカウント作成時に登録必須です。設定を終えるまでアプリ本体には入れません。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入れる人を絞り、触った跡を残す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1225296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前ページの「二要素認証・アクセス権限・監査ログ」は、要するにこの3つです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731520" y="1828800"/>
            <a:ext cx="3429000" cy="841248"/>
          </a:xfrm>
          <a:prstGeom prst="roundRect">
            <a:avLst>
              <a:gd name="adj" fmla="val 8696"/>
            </a:avLst>
          </a:prstGeom>
          <a:solidFill>
            <a:srgbClr val="14504B"/>
          </a:solidFill>
          <a:ln w="12700">
            <a:solidFill>
              <a:srgbClr val="14504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0120" y="1920240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二要素認証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960120" y="2286000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パスワードだけでは入れない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731520" y="2743200"/>
            <a:ext cx="3429000" cy="1691640"/>
          </a:xfrm>
          <a:prstGeom prst="roundRect">
            <a:avLst>
              <a:gd name="adj" fmla="val 4324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60120" y="287121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なぜ要るのか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60120" y="3163824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パスワードは漏れます。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使い回していれば、別のサービス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から漏れた1つで入られます。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知識だけで通れるのが弱点です。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731520" y="4526280"/>
            <a:ext cx="342900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0120" y="465429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このアプリでは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960120" y="4946904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アカウントを作る時点で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登録を必須にしています。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手元のスマートフォンが出す6桁を、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ログインのたびに求めます。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434840" y="1828800"/>
            <a:ext cx="3429000" cy="841248"/>
          </a:xfrm>
          <a:prstGeom prst="roundRect">
            <a:avLst>
              <a:gd name="adj" fmla="val 8696"/>
            </a:avLst>
          </a:prstGeom>
          <a:solidFill>
            <a:srgbClr val="14504B"/>
          </a:solidFill>
          <a:ln w="12700">
            <a:solidFill>
              <a:srgbClr val="14504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63440" y="1920240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権限の最小化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4663440" y="2286000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必要な人が、必要な分だけ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434840" y="2743200"/>
            <a:ext cx="3429000" cy="1691640"/>
          </a:xfrm>
          <a:prstGeom prst="roundRect">
            <a:avLst>
              <a:gd name="adj" fmla="val 4324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663440" y="287121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なぜ要るのか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663440" y="3163824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全員が全部見られる状態だと、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1つのアカウントが破られたとき、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被害がすべての入居者に及びます。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434840" y="4526280"/>
            <a:ext cx="342900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663440" y="465429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このアプリでは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663440" y="4946904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施設と役割で区切っています。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他施設の入居者は一覧にも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出ません。ご家族に見えるのは、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紐づいた本人の分だけです。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8138160" y="1828800"/>
            <a:ext cx="3429000" cy="841248"/>
          </a:xfrm>
          <a:prstGeom prst="roundRect">
            <a:avLst>
              <a:gd name="adj" fmla="val 8696"/>
            </a:avLst>
          </a:prstGeom>
          <a:solidFill>
            <a:srgbClr val="14504B"/>
          </a:solidFill>
          <a:ln w="12700">
            <a:solidFill>
              <a:srgbClr val="14504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366760" y="1920240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監査ログ</a:t>
            </a:r>
            <a:endParaRPr lang="en-US" sz="1900" dirty="0"/>
          </a:p>
        </p:txBody>
      </p:sp>
      <p:sp>
        <p:nvSpPr>
          <p:cNvPr id="24" name="Text 22"/>
          <p:cNvSpPr/>
          <p:nvPr/>
        </p:nvSpPr>
        <p:spPr>
          <a:xfrm>
            <a:off x="8366760" y="2286000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触った跡が残り、消せない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8138160" y="2743200"/>
            <a:ext cx="3429000" cy="1691640"/>
          </a:xfrm>
          <a:prstGeom prst="roundRect">
            <a:avLst>
              <a:gd name="adj" fmla="val 4324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366760" y="287121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なぜ要るのか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8366760" y="3163824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情報が漏れたとき、誰がいつ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見たのか辿れなければ、原因も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範囲も分かりません。その記録が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消せるなら、無いのと同じです。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8138160" y="4526280"/>
            <a:ext cx="342900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366760" y="465429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このアプリでは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8366760" y="4946904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閲覧・登録・変更・印刷を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記録します。書き足すことしか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できず、後から消す・書き直す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操作は仕組み上できません。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731520" y="635508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あわせて、15分操作がないと自動でサインアウトします。共用端末に前の人の画面が残らないようにするためです。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提供者として直接問われる要求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1225296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医療情報を取り扱う情報システム・サービスの提供事業者における安全管理ガイドライン 第2.0版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005840" y="187452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ガイドラインが求めていること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583680" y="187452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実装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2286000"/>
            <a:ext cx="10698480" cy="694944"/>
          </a:xfrm>
          <a:prstGeom prst="roundRect">
            <a:avLst>
              <a:gd name="adj" fmla="val 10526"/>
            </a:avLst>
          </a:prstGeom>
          <a:solidFill>
            <a:srgbClr val="F1F6F5"/>
          </a:solidFill>
          <a:ln w="12700">
            <a:solidFill>
              <a:srgbClr val="DCE6E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237744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6.1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05840" y="2633472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国内法の執行が及ぶ範囲に置く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263640" y="2542032"/>
            <a:ext cx="256032" cy="201168"/>
          </a:xfrm>
          <a:prstGeom prst="rightArrow">
            <a:avLst/>
          </a:prstGeom>
          <a:solidFill>
            <a:srgbClr val="A8CFC9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83680" y="2505456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データ・処理系とも東京リージョン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731520" y="3072384"/>
            <a:ext cx="10698480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DCE6E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05840" y="3163824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6.2 真正性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005840" y="3419856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改変の事実と、その内容を残す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263640" y="3328416"/>
            <a:ext cx="256032" cy="201168"/>
          </a:xfrm>
          <a:prstGeom prst="rightArrow">
            <a:avLst/>
          </a:prstGeom>
          <a:solidFill>
            <a:srgbClr val="A8CFC9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83680" y="3291840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変更前後の値・作成者・サーバー時刻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731520" y="3858768"/>
            <a:ext cx="10698480" cy="694944"/>
          </a:xfrm>
          <a:prstGeom prst="roundRect">
            <a:avLst>
              <a:gd name="adj" fmla="val 10526"/>
            </a:avLst>
          </a:prstGeom>
          <a:solidFill>
            <a:srgbClr val="F1F6F5"/>
          </a:solidFill>
          <a:ln w="12700">
            <a:solidFill>
              <a:srgbClr val="DCE6E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05840" y="3950208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6.2 見読性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005840" y="4206240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画面表示に加え、書面を作成できる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263640" y="4114800"/>
            <a:ext cx="256032" cy="201168"/>
          </a:xfrm>
          <a:prstGeom prst="rightArrow">
            <a:avLst/>
          </a:prstGeom>
          <a:solidFill>
            <a:srgbClr val="A8CFC9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583680" y="4078224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記録の印刷機能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731520" y="4645152"/>
            <a:ext cx="10698480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DCE6E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05840" y="473659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6.2 保存性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005840" y="4992624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期間中は復元できる状態を保つ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6263640" y="4901184"/>
            <a:ext cx="256032" cy="201168"/>
          </a:xfrm>
          <a:prstGeom prst="rightArrow">
            <a:avLst/>
          </a:prstGeom>
          <a:solidFill>
            <a:srgbClr val="A8CFC9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583680" y="4864608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任意時点への復元・削除保護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731520" y="5431536"/>
            <a:ext cx="10698480" cy="694944"/>
          </a:xfrm>
          <a:prstGeom prst="roundRect">
            <a:avLst>
              <a:gd name="adj" fmla="val 10526"/>
            </a:avLst>
          </a:prstGeom>
          <a:solidFill>
            <a:srgbClr val="F1F6F5"/>
          </a:solidFill>
          <a:ln w="12700">
            <a:solidFill>
              <a:srgbClr val="DCE6E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005840" y="5522976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4.1／4.2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1005840" y="5779008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医療機関へ所定の項目を開示し、役割分担を明確にする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6263640" y="5687568"/>
            <a:ext cx="256032" cy="201168"/>
          </a:xfrm>
          <a:prstGeom prst="rightArrow">
            <a:avLst/>
          </a:prstGeom>
          <a:solidFill>
            <a:srgbClr val="A8CFC9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583680" y="5650992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サービス仕様適合開示書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731520" y="635508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このガイドラインは医療機関ではなく、システムを提供する事業者そのものが名宛人です。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紙のカルテと同じ信頼を、データで担保する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1225296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前ページの「真正性・見読性・保存性」は、かみ砕くとこの3つです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731520" y="1828800"/>
            <a:ext cx="3429000" cy="841248"/>
          </a:xfrm>
          <a:prstGeom prst="roundRect">
            <a:avLst>
              <a:gd name="adj" fmla="val 8696"/>
            </a:avLst>
          </a:prstGeom>
          <a:solidFill>
            <a:srgbClr val="14504B"/>
          </a:solidFill>
          <a:ln w="12700">
            <a:solidFill>
              <a:srgbClr val="14504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0120" y="1920240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真正性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960120" y="2286000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あとから書き換えられていないこと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731520" y="2743200"/>
            <a:ext cx="3429000" cy="1691640"/>
          </a:xfrm>
          <a:prstGeom prst="roundRect">
            <a:avLst>
              <a:gd name="adj" fmla="val 4324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60120" y="287121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なぜ要るのか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60120" y="3163824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アレルギーが「あり」から「なし」に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変わっていたとして、それが正規の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訂正なのか分からなければ、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その記録は使えません。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731520" y="4526280"/>
            <a:ext cx="342900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0120" y="465429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このアプリでは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960120" y="4946904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誰が・いつ・何を・どう変えたかを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変更前の値ごと残します。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記録そのものの書き換えと削除は、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仕組みとして禁止しています。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434840" y="1828800"/>
            <a:ext cx="3429000" cy="841248"/>
          </a:xfrm>
          <a:prstGeom prst="roundRect">
            <a:avLst>
              <a:gd name="adj" fmla="val 8696"/>
            </a:avLst>
          </a:prstGeom>
          <a:solidFill>
            <a:srgbClr val="14504B"/>
          </a:solidFill>
          <a:ln w="12700">
            <a:solidFill>
              <a:srgbClr val="14504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63440" y="1920240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見読性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4663440" y="2286000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必要なときに読み出せること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434840" y="2743200"/>
            <a:ext cx="3429000" cy="1691640"/>
          </a:xfrm>
          <a:prstGeom prst="roundRect">
            <a:avLst>
              <a:gd name="adj" fmla="val 4324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663440" y="287121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なぜ要るのか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663440" y="3163824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行政の調査や監査では、記録の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提出を求められます。画面で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見えるだけでは足りず、紙に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出せる必要があります。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434840" y="4526280"/>
            <a:ext cx="342900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663440" y="465429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このアプリでは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663440" y="4946904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入居者ごとの記録を、そのまま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印刷できるようにしました。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印刷したこと自体も、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持ち出しとして記録に残します。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8138160" y="1828800"/>
            <a:ext cx="3429000" cy="841248"/>
          </a:xfrm>
          <a:prstGeom prst="roundRect">
            <a:avLst>
              <a:gd name="adj" fmla="val 8696"/>
            </a:avLst>
          </a:prstGeom>
          <a:solidFill>
            <a:srgbClr val="14504B"/>
          </a:solidFill>
          <a:ln w="12700">
            <a:solidFill>
              <a:srgbClr val="14504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366760" y="1920240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保存性</a:t>
            </a:r>
            <a:endParaRPr lang="en-US" sz="1900" dirty="0"/>
          </a:p>
        </p:txBody>
      </p:sp>
      <p:sp>
        <p:nvSpPr>
          <p:cNvPr id="24" name="Text 22"/>
          <p:cNvSpPr/>
          <p:nvPr/>
        </p:nvSpPr>
        <p:spPr>
          <a:xfrm>
            <a:off x="8366760" y="2286000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保存期間中は失われないこと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8138160" y="2743200"/>
            <a:ext cx="3429000" cy="1691640"/>
          </a:xfrm>
          <a:prstGeom prst="roundRect">
            <a:avLst>
              <a:gd name="adj" fmla="val 4324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366760" y="287121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なぜ要るのか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8366760" y="3163824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誤操作や障害でデータが壊れても、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決められた期間は元に戻せなければ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なりません。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8138160" y="4526280"/>
            <a:ext cx="342900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366760" y="465429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このアプリでは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8366760" y="4946904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過去7日間の任意の時点まで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巻き戻せます。データベース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自体の誤削除も、設定で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できないようにしています。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731520" y="635508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この3つは、紙のカルテで当たり前に成り立っていたことを、電子でも同じ水準にするための決まりです。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どこに置いて、なぜそこなのか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1225296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「記録します」「保存します」の中身を、保管先まで開きます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005840" y="178308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何を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3931920" y="1783080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どこに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086600" y="1783080"/>
            <a:ext cx="4617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なぜ、そこなのか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731520" y="2148840"/>
            <a:ext cx="10698480" cy="658368"/>
          </a:xfrm>
          <a:prstGeom prst="roundRect">
            <a:avLst>
              <a:gd name="adj" fmla="val 11111"/>
            </a:avLst>
          </a:prstGeom>
          <a:solidFill>
            <a:srgbClr val="F1F6F5"/>
          </a:solidFill>
          <a:ln w="12700">
            <a:solidFill>
              <a:srgbClr val="DCE6E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05840" y="224028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入居者の記録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005840" y="25146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服薬・バイタル・アレルギー・やり取り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931920" y="2267712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Cloud Firestore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東京（asia-northeast1）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086600" y="2267712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国内法の執行が及ぶ範囲に置くことが要求事項です。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海外だと、いざというとき日本の法律が届きません。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31520" y="2898648"/>
            <a:ext cx="1069848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DCE6E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05840" y="2990088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監査ログ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05840" y="326440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誰が・いつ・何を見たか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931920" y="301752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同じ東京リージョン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（専用の領域）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7086600" y="301752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書き足すことしかできない設定にしています。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運営者の手でも、後から書き換え・削除ができません。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31520" y="3648456"/>
            <a:ext cx="10698480" cy="658368"/>
          </a:xfrm>
          <a:prstGeom prst="roundRect">
            <a:avLst>
              <a:gd name="adj" fmla="val 11111"/>
            </a:avLst>
          </a:prstGeom>
          <a:solidFill>
            <a:srgbClr val="F1F6F5"/>
          </a:solidFill>
          <a:ln w="12700">
            <a:solidFill>
              <a:srgbClr val="DCE6E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5840" y="37398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アプリの画面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005840" y="401421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ブラウザに配信される本体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931920" y="3767328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Firebase Hosting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全通信を HTTPS に強制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7086600" y="3767328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施設の端末と保管先のあいだを暗号化します。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途中の経路で中身を読まれることはありません。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731520" y="4398264"/>
            <a:ext cx="1069848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DCE6E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005840" y="4489704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AIに送る内容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1005840" y="476402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説明文を組み立てる分だけ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3931920" y="4517136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自社のプロキシ経由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Cloud Run 東京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7086600" y="4517136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氏名・生年月日・居室番号は送りません。送るのは症状と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薬剤名だけです。判定自体はAIではなくルールが決めます。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731520" y="5193792"/>
            <a:ext cx="10698480" cy="1005840"/>
          </a:xfrm>
          <a:prstGeom prst="roundRect">
            <a:avLst>
              <a:gd name="adj" fmla="val 7273"/>
            </a:avLst>
          </a:prstGeom>
          <a:solidFill>
            <a:srgbClr val="14504B"/>
          </a:solidFill>
          <a:ln w="12700">
            <a:solidFill>
              <a:srgbClr val="14504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051560" y="530352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消えないこと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2743200" y="5303520"/>
            <a:ext cx="8503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過去7日間の任意の時点まで戻せます。データベースそのものの削除も、設定で禁止しています。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1051560" y="5724144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読まれないこと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2743200" y="5724144"/>
            <a:ext cx="8503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保存時は Google Cloud の既定で暗号化。基盤は ISO/IEC 27001・27017・27018 と SOC 2/3 を取得しています。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基盤事業者は Google Cloud Japan ですが、米国法の適用可能性は完全には排除できません。当社自身のPマーク／ISMSも未取得です（次ページ）。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できていないこと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1225296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導入をご検討いただく前に、こちらからお伝えします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731520" y="1965960"/>
            <a:ext cx="10698480" cy="1207008"/>
          </a:xfrm>
          <a:prstGeom prst="roundRect">
            <a:avLst>
              <a:gd name="adj" fmla="val 6061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51560" y="2112264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プライバシーマーク／ISMS認証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6949440" y="2130552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D98A2B"/>
          </a:solidFill>
          <a:ln w="12700">
            <a:solidFill>
              <a:srgbClr val="D98A2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949440" y="2130552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未取得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51560" y="2514600"/>
            <a:ext cx="9966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事業者ガイドライン4.4が求めています。技術的な工夫では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代替できず、審査期間と費用がかかるため事業判断が要ります。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31520" y="3337560"/>
            <a:ext cx="10698480" cy="1207008"/>
          </a:xfrm>
          <a:prstGeom prst="roundRect">
            <a:avLst>
              <a:gd name="adj" fmla="val 6061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51560" y="3483864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第三者による安全管理の評価</a:t>
            </a:r>
            <a:endParaRPr lang="en-US" sz="1900" dirty="0"/>
          </a:p>
        </p:txBody>
      </p:sp>
      <p:sp>
        <p:nvSpPr>
          <p:cNvPr id="11" name="Shape 9"/>
          <p:cNvSpPr/>
          <p:nvPr/>
        </p:nvSpPr>
        <p:spPr>
          <a:xfrm>
            <a:off x="6949440" y="3502152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D98A2B"/>
          </a:solidFill>
          <a:ln w="12700">
            <a:solidFill>
              <a:srgbClr val="D98A2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949440" y="3502152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未実施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51560" y="3886200"/>
            <a:ext cx="9966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同4.3。現状は内部での確認に留まっています。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31520" y="4709160"/>
            <a:ext cx="10698480" cy="1207008"/>
          </a:xfrm>
          <a:prstGeom prst="roundRect">
            <a:avLst>
              <a:gd name="adj" fmla="val 6061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51560" y="4855464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監査ログを施設側で確認する画面</a:t>
            </a:r>
            <a:endParaRPr lang="en-US" sz="1900" dirty="0"/>
          </a:p>
        </p:txBody>
      </p:sp>
      <p:sp>
        <p:nvSpPr>
          <p:cNvPr id="16" name="Shape 14"/>
          <p:cNvSpPr/>
          <p:nvPr/>
        </p:nvSpPr>
        <p:spPr>
          <a:xfrm>
            <a:off x="6949440" y="4873752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D98A2B"/>
          </a:solidFill>
          <a:ln w="12700">
            <a:solidFill>
              <a:srgbClr val="D98A2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949440" y="4873752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未実装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051560" y="5257800"/>
            <a:ext cx="9966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システム運用編17①は、記録するだけでなく定期的に確認することまで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求めています。記録と権限は揃っているので、閲覧画面を足せば満たせます。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731520" y="6126480"/>
            <a:ext cx="10698480" cy="594360"/>
          </a:xfrm>
          <a:prstGeom prst="roundRect">
            <a:avLst>
              <a:gd name="adj" fmla="val 12308"/>
            </a:avLst>
          </a:prstGeom>
          <a:solidFill>
            <a:srgbClr val="14504B"/>
          </a:solidFill>
          <a:ln w="12700">
            <a:solidFill>
              <a:srgbClr val="14504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97280" y="6245352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未対応の一覧は開示書にそのまま載せています。ご確認のうえ判断してください。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450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2240280"/>
            <a:ext cx="1005840" cy="1005840"/>
          </a:xfrm>
          <a:prstGeom prst="ellipse">
            <a:avLst/>
          </a:prstGeom>
          <a:solidFill>
            <a:srgbClr val="D98A2B"/>
          </a:solidFill>
          <a:ln w="12700">
            <a:solidFill>
              <a:srgbClr val="D98A2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14400" y="224028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2286000" y="1874520"/>
            <a:ext cx="93268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健診データを</a:t>
            </a:r>
            <a:endParaRPr lang="en-US" sz="38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プライマリケアにどう活かすか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2286000" y="3931920"/>
            <a:ext cx="9326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A8CFC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毎年集まっている特定健診データを、予防のための判断に変える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2286000" y="4709160"/>
            <a:ext cx="9326880" cy="1143000"/>
          </a:xfrm>
          <a:prstGeom prst="roundRect">
            <a:avLst>
              <a:gd name="adj" fmla="val 6400"/>
            </a:avLst>
          </a:prstGeom>
          <a:solidFill>
            <a:srgbClr val="1B635C"/>
          </a:solidFill>
          <a:ln w="12700">
            <a:solidFill>
              <a:srgbClr val="1B635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606040" y="4864608"/>
            <a:ext cx="8778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第1部と同じ考え方です。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2606040" y="5257800"/>
            <a:ext cx="8778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すでに手元にあるデータを、その場の判断につなげる。第1部は施設の服薬記録で、第2部は健診の数値です。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286000" y="6035040"/>
            <a:ext cx="9326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CFC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事例：1年間のBRI変化と尿蛋白の新規発現（宮崎県延岡市 2020–2021年）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特定健診は、毎年とられている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731520" y="1965960"/>
            <a:ext cx="2103120" cy="1554480"/>
          </a:xfrm>
          <a:prstGeom prst="roundRect">
            <a:avLst>
              <a:gd name="adj" fmla="val 4706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77240" y="219456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受ける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777240" y="265176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腹囲・血圧・血液検査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871216" y="2670048"/>
            <a:ext cx="201168" cy="237744"/>
          </a:xfrm>
          <a:prstGeom prst="rightArrow">
            <a:avLst/>
          </a:prstGeom>
          <a:solidFill>
            <a:srgbClr val="A8CFC9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108960" y="1965960"/>
            <a:ext cx="2103120" cy="1554480"/>
          </a:xfrm>
          <a:prstGeom prst="roundRect">
            <a:avLst>
              <a:gd name="adj" fmla="val 4706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154680" y="219456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結果を渡す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154680" y="265176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基準値との比較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248656" y="2670048"/>
            <a:ext cx="201168" cy="237744"/>
          </a:xfrm>
          <a:prstGeom prst="rightArrow">
            <a:avLst/>
          </a:prstGeom>
          <a:solidFill>
            <a:srgbClr val="A8CFC9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0" y="1965960"/>
            <a:ext cx="2103120" cy="1554480"/>
          </a:xfrm>
          <a:prstGeom prst="roundRect">
            <a:avLst>
              <a:gd name="adj" fmla="val 4706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532120" y="219456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保健指導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5532120" y="265176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該当者に案内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955280" y="1965960"/>
            <a:ext cx="3474720" cy="1554480"/>
          </a:xfrm>
          <a:prstGeom prst="roundRect">
            <a:avLst>
              <a:gd name="adj" fmla="val 4706"/>
            </a:avLst>
          </a:prstGeom>
          <a:solidFill>
            <a:srgbClr val="F7F2EC"/>
          </a:solidFill>
          <a:ln w="12700">
            <a:solidFill>
              <a:srgbClr val="F7F2E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183880" y="219456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A6F5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多くはここで終わる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183880" y="2633472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A50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「今」の値は分かるが、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A50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変化は活かされにくい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31520" y="3931920"/>
            <a:ext cx="10698480" cy="2011680"/>
          </a:xfrm>
          <a:prstGeom prst="roundRect">
            <a:avLst>
              <a:gd name="adj" fmla="val 3636"/>
            </a:avLst>
          </a:prstGeom>
          <a:solidFill>
            <a:srgbClr val="14504B"/>
          </a:solidFill>
          <a:ln w="12700">
            <a:solidFill>
              <a:srgbClr val="14504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97280" y="416052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問い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097280" y="4590288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毎年同じ人を測っているのだから、</a:t>
            </a:r>
            <a:endParaRPr lang="en-US" sz="2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「去年からどう変わったか」でリスクを見られないか。</a:t>
            </a:r>
            <a:endParaRPr lang="en-US" sz="2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事例：からだの「まるみ」の変化を見る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1225296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腹囲と身長だけで計算できる指標 BRI（Body Roundness Index）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731520" y="1920240"/>
            <a:ext cx="3429000" cy="1783080"/>
          </a:xfrm>
          <a:prstGeom prst="roundRect">
            <a:avLst>
              <a:gd name="adj" fmla="val 4103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87552" y="2103120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見たもの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987552" y="2578608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延岡市の40歳以上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3,819名の2年分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434840" y="1920240"/>
            <a:ext cx="3429000" cy="1783080"/>
          </a:xfrm>
          <a:prstGeom prst="roundRect">
            <a:avLst>
              <a:gd name="adj" fmla="val 4103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90872" y="2103120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調べたこと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4690872" y="2578608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1年間でBRIが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増えた／減った／横ばい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138160" y="1920240"/>
            <a:ext cx="3429000" cy="1783080"/>
          </a:xfrm>
          <a:prstGeom prst="roundRect">
            <a:avLst>
              <a:gd name="adj" fmla="val 4103"/>
            </a:avLst>
          </a:prstGeom>
          <a:solidFill>
            <a:srgbClr val="14504B"/>
          </a:solidFill>
          <a:ln w="12700">
            <a:solidFill>
              <a:srgbClr val="14504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394192" y="2103120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分かったこと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8394192" y="2578608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増えた群で尿蛋白が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新たに出やすかった</a:t>
            </a:r>
            <a:endParaRPr lang="en-US" sz="1400" dirty="0"/>
          </a:p>
        </p:txBody>
      </p:sp>
      <p:graphicFrame>
        <p:nvGraphicFramePr>
          <p:cNvPr id="13" name="Chart 0" descr=""/>
          <p:cNvGraphicFramePr/>
          <p:nvPr/>
        </p:nvGraphicFramePr>
        <p:xfrm>
          <a:off x="731520" y="3840480"/>
          <a:ext cx="6035040" cy="2011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4" name="Text 11"/>
          <p:cNvSpPr/>
          <p:nvPr/>
        </p:nvSpPr>
        <p:spPr>
          <a:xfrm>
            <a:off x="731520" y="5897880"/>
            <a:ext cx="6126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「増えた」だけが統計的に確かめられた差です。「減った」は 1.16 と出ていますが、ばらつきの範囲（0.85〜1.58）が1をまたぐため、差があるとは言えません。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7040880" y="3840480"/>
            <a:ext cx="4389120" cy="2560320"/>
          </a:xfrm>
          <a:prstGeom prst="roundRect">
            <a:avLst>
              <a:gd name="adj" fmla="val 2857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315200" y="402336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尿蛋白に注目する理由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7315200" y="4434840"/>
            <a:ext cx="3931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腎機能の低下より先に出ることが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多く、早い段階で気づけます。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7315200" y="5193792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1.38倍とは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7315200" y="5486400"/>
            <a:ext cx="4023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横ばいだった人に比べ、尿蛋白が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新たに出た人の割合が約1.4倍。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体重やBMIの変化を考慮しても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残った差です。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どう現場で使えるか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1225296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研究を、健診の場での実践につなげる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731520" y="1920240"/>
            <a:ext cx="3429000" cy="2743200"/>
          </a:xfrm>
          <a:prstGeom prst="roundRect">
            <a:avLst>
              <a:gd name="adj" fmla="val 2667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2148840"/>
            <a:ext cx="502920" cy="502920"/>
          </a:xfrm>
          <a:prstGeom prst="ellipse">
            <a:avLst/>
          </a:prstGeom>
          <a:solidFill>
            <a:srgbClr val="D98A2B"/>
          </a:solidFill>
          <a:ln w="12700">
            <a:solidFill>
              <a:srgbClr val="D98A2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87552" y="21488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987552" y="283464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道具がいらない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987552" y="3346704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メジャーと身長計だけ。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特別な機器がなくても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どの会場でも計算できる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434840" y="1920240"/>
            <a:ext cx="3429000" cy="2743200"/>
          </a:xfrm>
          <a:prstGeom prst="roundRect">
            <a:avLst>
              <a:gd name="adj" fmla="val 2667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90872" y="2148840"/>
            <a:ext cx="502920" cy="502920"/>
          </a:xfrm>
          <a:prstGeom prst="ellipse">
            <a:avLst/>
          </a:prstGeom>
          <a:solidFill>
            <a:srgbClr val="D98A2B"/>
          </a:solidFill>
          <a:ln w="12700">
            <a:solidFill>
              <a:srgbClr val="D98A2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90872" y="21488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②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4690872" y="283464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声のかけ方が変わる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690872" y="3346704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「太っています」ではなく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「去年より増えています」。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本人も実感しやすい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138160" y="1920240"/>
            <a:ext cx="3429000" cy="2743200"/>
          </a:xfrm>
          <a:prstGeom prst="roundRect">
            <a:avLst>
              <a:gd name="adj" fmla="val 2667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394192" y="2148840"/>
            <a:ext cx="502920" cy="502920"/>
          </a:xfrm>
          <a:prstGeom prst="ellipse">
            <a:avLst/>
          </a:prstGeom>
          <a:solidFill>
            <a:srgbClr val="D98A2B"/>
          </a:solidFill>
          <a:ln w="12700">
            <a:solidFill>
              <a:srgbClr val="D98A2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394192" y="21488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③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8394192" y="283464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優先順位がつけられる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8394192" y="3346704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限られた保健指導の枠を、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リスクが上がった人に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優先して充てられる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731520" y="4983480"/>
            <a:ext cx="10698480" cy="1188720"/>
          </a:xfrm>
          <a:prstGeom prst="roundRect">
            <a:avLst>
              <a:gd name="adj" fmla="val 6154"/>
            </a:avLst>
          </a:prstGeom>
          <a:solidFill>
            <a:srgbClr val="14504B"/>
          </a:solidFill>
          <a:ln w="12700">
            <a:solidFill>
              <a:srgbClr val="14504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97280" y="5257800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研究の目的は、論文を書くことではなく、明日の声かけを変えること</a:t>
            </a:r>
            <a:endParaRPr lang="en-US" sz="2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言えること、言えないこと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731520" y="1965960"/>
            <a:ext cx="5120640" cy="3200400"/>
          </a:xfrm>
          <a:prstGeom prst="roundRect">
            <a:avLst>
              <a:gd name="adj" fmla="val 2286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51560" y="219456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言えること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1051560" y="2834640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1年間でBRIが増えた人は、</a:t>
            </a:r>
            <a:endParaRPr lang="en-US" sz="15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尿蛋白が新たに出やすかった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051560" y="3931920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体重やBMIの変化を</a:t>
            </a:r>
            <a:endParaRPr lang="en-US" sz="15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考慮しても傾向は残った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0" y="1965960"/>
            <a:ext cx="5029200" cy="3200400"/>
          </a:xfrm>
          <a:prstGeom prst="roundRect">
            <a:avLst>
              <a:gd name="adj" fmla="val 2286"/>
            </a:avLst>
          </a:prstGeom>
          <a:solidFill>
            <a:srgbClr val="F7F2EC"/>
          </a:solidFill>
          <a:ln w="12700">
            <a:solidFill>
              <a:srgbClr val="F7F2E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720840" y="219456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8A6F5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言えないこと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6720840" y="2697480"/>
            <a:ext cx="4572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A50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BRIを下げれば腎臓が守れる、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A50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という因果関係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720840" y="3355848"/>
            <a:ext cx="4572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A50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「減った人も危ない」とは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A50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言えない（差が確かめられていない）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720840" y="4014216"/>
            <a:ext cx="4572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A50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痩せた理由が生活改善なのか、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A50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病気や低栄養なのかは区別できない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720840" y="4672584"/>
            <a:ext cx="4572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A50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1年・延岡市の受診者が対象。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A50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そのまま他地域には広げられない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31520" y="5440680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次に必要なのは、複数地域・長期の追跡と、介入して確かめる研究です。</a:t>
            </a:r>
            <a:endParaRPr lang="en-US" sz="15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450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645920" y="3657600"/>
            <a:ext cx="4754880" cy="4754880"/>
          </a:xfrm>
          <a:prstGeom prst="ellipse">
            <a:avLst/>
          </a:prstGeom>
          <a:solidFill>
            <a:srgbClr val="1B635C"/>
          </a:solidFill>
          <a:ln w="12700">
            <a:solidFill>
              <a:srgbClr val="1B635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14400" y="11887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ふたつに共通していること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914400" y="2240280"/>
            <a:ext cx="5029200" cy="2194560"/>
          </a:xfrm>
          <a:prstGeom prst="roundRect">
            <a:avLst>
              <a:gd name="adj" fmla="val 3333"/>
            </a:avLst>
          </a:prstGeom>
          <a:solidFill>
            <a:srgbClr val="1B635C"/>
          </a:solidFill>
          <a:ln w="12700">
            <a:solidFill>
              <a:srgbClr val="1B635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80160" y="2450592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ファーマケア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280160" y="2971800"/>
            <a:ext cx="44348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施設で毎日とっている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服薬・症状の記録を、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その場の判断につなげる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263640" y="2240280"/>
            <a:ext cx="5029200" cy="2194560"/>
          </a:xfrm>
          <a:prstGeom prst="roundRect">
            <a:avLst>
              <a:gd name="adj" fmla="val 3333"/>
            </a:avLst>
          </a:prstGeom>
          <a:solidFill>
            <a:srgbClr val="1B635C"/>
          </a:solidFill>
          <a:ln w="12700">
            <a:solidFill>
              <a:srgbClr val="1B635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29400" y="2450592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健診データの研究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629400" y="2971800"/>
            <a:ext cx="44348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毎年とっている健診の値を、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変化として読み、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予防の優先順位につなげる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914400" y="512064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すでに手元にあるデータを、次の一手に変える。</a:t>
            </a:r>
            <a:endParaRPr lang="en-US" sz="2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ファーマケア 紹介資料</dc:title>
  <dc:subject>PptxGenJS Presentation</dc:subject>
  <dc:creator>PharmaCare</dc:creator>
  <cp:lastModifiedBy>PharmaCare</cp:lastModifiedBy>
  <cp:revision>1</cp:revision>
  <dcterms:created xsi:type="dcterms:W3CDTF">2026-08-27T05:48:33Z</dcterms:created>
  <dcterms:modified xsi:type="dcterms:W3CDTF">2026-08-27T05:48:33Z</dcterms:modified>
</cp:coreProperties>
</file>