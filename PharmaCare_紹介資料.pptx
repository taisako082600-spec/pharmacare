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4504B"/>
                </a:solidFill>
                <a:latin typeface="Yu Gothic"/>
              </a:defRPr>
            </a:pPr>
            <a:r>
              <a:rPr sz="1500" b="0" i="0" u="none" strike="noStrike">
                <a:solidFill>
                  <a:srgbClr val="14504B"/>
                </a:solidFill>
                <a:latin typeface="Yu Gothic"/>
              </a:rPr>
              <a:t>尿蛋白が新たに出るリスク（オッズ比）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オッズ比</c:v>
                </c:pt>
              </c:strCache>
            </c:strRef>
          </c:tx>
          <c:spPr>
            <a:solidFill>
              <a:srgbClr val="3E8E8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621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減った</c:v>
                  </c:pt>
                  <c:pt idx="1">
                    <c:v>横ばい（基準）</c:v>
                  </c:pt>
                  <c:pt idx="2">
                    <c:v>増えた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1.16</c:v>
                </c:pt>
                <c:pt idx="1">
                  <c:v>1</c:v>
                </c:pt>
                <c:pt idx="2">
                  <c:v>1.38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621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6211F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0"/>
        </c:scaling>
        <c:delete val="0"/>
        <c:axPos val="b"/>
        <c:majorGridlines>
          <c:spPr>
            <a:ln w="12700" cap="flat">
              <a:solidFill>
                <a:srgbClr val="E4ED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B6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原本照合で危険信号を102→118に増やし、同時にめまいの過剰判定を是正した。増やすだけでなく減らしてもいる点が要旨。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隠さず出すことが、医療情報を預かる事業者としての信頼につながる。指摘される前に自分から言う。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この資料の中心メッセージ。データ→研究→現場の実践、という流れを示す。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023360"/>
            <a:ext cx="2926080" cy="29260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002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現場のデータを、</a:t>
            </a:r>
            <a:endParaRPr lang="en-US" sz="4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次の一手につなげる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914400" y="3931920"/>
            <a:ext cx="36576" cy="1371600"/>
          </a:xfrm>
          <a:prstGeom prst="rect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395020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第1部　ファーマケア — 介護施設と薬剤師をつなぐ服薬管理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46177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第2部　健診データをプライマリケアにどう活かすか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5715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　迫口 大晟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42316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42316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23774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2286000" y="3364992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介護施設と薬剤師をつなぐ、服薬管理プラットフォーム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施設と薬局のあいだが、電話とFAXで止まっている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4937760" cy="3474720"/>
          </a:xfrm>
          <a:prstGeom prst="roundRect">
            <a:avLst>
              <a:gd name="adj" fmla="val 2105"/>
            </a:avLst>
          </a:prstGeom>
          <a:solidFill>
            <a:srgbClr val="F0EEEA"/>
          </a:solidFill>
          <a:ln w="12700">
            <a:solidFill>
              <a:srgbClr val="F0EEE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2402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これまで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97280" y="297180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薬が変わっても伝わらない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97280" y="37216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相談したいがつながらない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4471416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夜間・休日は判断材料がない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537960" y="1965960"/>
            <a:ext cx="4892040" cy="3474720"/>
          </a:xfrm>
          <a:prstGeom prst="roundRect">
            <a:avLst>
              <a:gd name="adj" fmla="val 2105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0372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903720" y="2971800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薬の情報がその場で共有される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903720" y="3721608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時間を選ばずチャットで相談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03720" y="4471416"/>
            <a:ext cx="4297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症状から対応の目安が出る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806440" y="3520440"/>
            <a:ext cx="457200" cy="402336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7150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Webブラウザだけで利用でき、アプリのインストールは不要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施設をつくり、招待コードでつながる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17320" y="2286000"/>
            <a:ext cx="566928" cy="566928"/>
          </a:xfrm>
          <a:prstGeom prst="ellipse">
            <a:avLst/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4980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施設をつくる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8833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97180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99008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招待コード発行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92861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1208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9788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9788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3036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職員が参加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16889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5236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286000"/>
            <a:ext cx="566928" cy="566928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7064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入居者を登録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9409176" y="2880360"/>
            <a:ext cx="219456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92640" y="2057400"/>
            <a:ext cx="1920240" cy="1828800"/>
          </a:xfrm>
          <a:prstGeom prst="roundRect">
            <a:avLst>
              <a:gd name="adj" fmla="val 4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378440" y="2286000"/>
            <a:ext cx="566928" cy="566928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2860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710928" y="3063240"/>
            <a:ext cx="188366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家族を招待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31520" y="4343400"/>
            <a:ext cx="106984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51560" y="45537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役割ごとに、見えるものが違う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105156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5156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薬の登録・変更、相談対応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2628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介護士・看護師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52628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服薬記録、バイタル、症状相談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001000" y="5029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家族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001000" y="5394960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処方とバイタルの閲覧のみ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日々の記録から、判断の支援まで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926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53619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お薬手帳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QRコードで5秒登録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変更履歴も自動で記録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7258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7258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3951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9087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薬剤師の訪問予定を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施設側にも表示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38160" y="192024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75904" y="217627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2176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942832" y="21945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94192" y="288036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患者ごとの相談ルーム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リアルタイムで反映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926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926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53619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服薬の注意点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755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添付文書から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該当箇所だけを提示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43484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72584" y="4325112"/>
            <a:ext cx="457200" cy="45720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7258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23951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469087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体調不良時の対応の目安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を3段階で提示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138160" y="4069080"/>
            <a:ext cx="3429000" cy="1965960"/>
          </a:xfrm>
          <a:prstGeom prst="roundRect">
            <a:avLst>
              <a:gd name="adj" fmla="val 372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75904" y="4325112"/>
            <a:ext cx="457200" cy="45720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75904" y="4325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942832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記録の書面出力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8394192" y="5029200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保管中の記録を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そのまま印刷できる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315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④⑤はAIを使う機能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症状トリアージ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体調不良のとき、その場で対応の目安がわかる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74520"/>
            <a:ext cx="5029200" cy="2834640"/>
          </a:xfrm>
          <a:prstGeom prst="roundRect">
            <a:avLst>
              <a:gd name="adj" fmla="val 258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848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スタッフが入力する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1097280" y="2697480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627632" y="269748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症状カテゴリー（17種類）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300984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3009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27632" y="3300984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重症度・発症時刻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3904488"/>
            <a:ext cx="365760" cy="365760"/>
          </a:xfrm>
          <a:prstGeom prst="ellipse">
            <a:avLst/>
          </a:prstGeom>
          <a:solidFill>
            <a:srgbClr val="3E8E84"/>
          </a:solidFill>
          <a:ln w="12700">
            <a:solidFill>
              <a:srgbClr val="3E8E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627632" y="390448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当てはまる危険信号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897880" y="3063240"/>
            <a:ext cx="411480" cy="384048"/>
          </a:xfrm>
          <a:prstGeom prst="rightArrow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1874520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48272" y="2130552"/>
            <a:ext cx="329184" cy="32918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42048" y="19659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4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OTC対応可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242048" y="233172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市販薬で様子を見る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92240" y="2843784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48272" y="3099816"/>
            <a:ext cx="329184" cy="329184"/>
          </a:xfrm>
          <a:prstGeom prst="ellipse">
            <a:avLst/>
          </a:prstGeom>
          <a:solidFill>
            <a:srgbClr val="C99A22"/>
          </a:solidFill>
          <a:ln w="12700">
            <a:solidFill>
              <a:srgbClr val="C99A2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42048" y="29352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99A2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薬剤師に相談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42048" y="330098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ワンタップで相談へ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92240" y="3813048"/>
            <a:ext cx="4937760" cy="859536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48272" y="4069080"/>
            <a:ext cx="329184" cy="329184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242048" y="39044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23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医療機関を受診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242048" y="427024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速やかに受診手配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31520" y="4937760"/>
            <a:ext cx="10698480" cy="1234440"/>
          </a:xfrm>
          <a:prstGeom prst="roundRect">
            <a:avLst>
              <a:gd name="adj" fmla="val 592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97280" y="51206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判定はルールで決まる。AIは説明文をつくるだけ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1097280" y="5559552"/>
            <a:ext cx="10058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危険信号が1つでもあれば、重症度によらず受診をすすめる側に倒します。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判定の根拠は、原本まで遡って確かめている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厚生労働省の公開資料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100584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症候別トリアージの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枠組みと症候の分類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43484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0916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アルゴリズムで考える</a:t>
            </a:r>
            <a:endParaRPr lang="en-US" sz="17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薬剤師の臨床判断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70916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15症候それぞれの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「見逃してはいけない疾患」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38160" y="196596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2176272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薬学臨床推論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12480" y="29260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なぜその判定になるかの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73152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実装した危険信号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443484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対応する症候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4023360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8138160" y="4773168"/>
            <a:ext cx="3429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照合した文献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5303520"/>
            <a:ext cx="10698480" cy="914400"/>
          </a:xfrm>
          <a:prstGeom prst="roundRect">
            <a:avLst>
              <a:gd name="adj" fmla="val 80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5513832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過剰な警告も直しました。ありふれた良性のめまいで「受診」が出ていた分を、相談レベルに戻しています。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AIに、医学的な判断はさせない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もっともらしい誤りが混ざることを、医療では許容できないため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3000" y="3090672"/>
            <a:ext cx="502920" cy="502920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AIがやること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17043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添付文書の該当箇所を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探して見せる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7043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複数の薬に共通する注意点を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重複を省いて整理する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029200" cy="2880360"/>
          </a:xfrm>
          <a:prstGeom prst="roundRect">
            <a:avLst>
              <a:gd name="adj" fmla="val 2540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090672"/>
            <a:ext cx="502920" cy="502920"/>
          </a:xfrm>
          <a:prstGeom prst="ellipse">
            <a:avLst/>
          </a:prstGeom>
          <a:solidFill>
            <a:srgbClr val="B23A2F"/>
          </a:solidFill>
          <a:ln w="12700">
            <a:solidFill>
              <a:srgbClr val="B23A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92240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132320" y="3127248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AIがやらないこと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19672" y="3794760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書かれていないことを補う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19672" y="4416552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新しい医学的判断をする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19672" y="5038344"/>
            <a:ext cx="4526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トリアージの判定を決める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989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AIが使えない状況でも、判定そのものはアプリだけで返ります。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患者情報を扱うということ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2つのガイドラインに照らして確認しています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8E8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厚生労働省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安全管理に関するガイドライン 第7.0版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守るのは利用施設。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それを支える機能を提供します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212080" cy="2057400"/>
          </a:xfrm>
          <a:prstGeom prst="roundRect">
            <a:avLst>
              <a:gd name="adj" fmla="val 3556"/>
            </a:avLst>
          </a:prstGeom>
          <a:solidFill>
            <a:srgbClr val="F1F6F5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993392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総務省・経済産業省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92240" y="23317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提供事業者における安全管理ガイドライン 第2.0版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1272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こちらは私たちが名宛人。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提供者として直接守る側です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438912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どちらも「何を求めているか」から実装を決めています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097280" y="484632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条文を先に読み、そこから必要な機能を起こしました。次の2枚で、要求事項と実装の対応を示します。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97280" y="54406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できていないことも、そのまま開示します（最後の1枚）。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施設が守る側の要求に、機能で応える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医療情報システムの安全管理に関するガイドライン 第7.0版（厚生労働省）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システム運用編 14 遵守事項⑤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令和9年4月までに二要素認証を採用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認証アプリの6桁（TOTP）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14.2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アクセス権限は必要最小限に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Firestoreルールで施設・ロール単位に分離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誰がいつ何を見たかを残す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監査ログ。変更は前後の値まで記録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17②③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ログの改ざんを防ぐ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追記のみ。更新と削除を禁止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 12.3.2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離席時に画面をロックする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15分の無操作で自動サインアウト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二要素認証は新規アカウントで登録必須にしています。既存の利用者は締め出さず、案内から順に移行します。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提供者として直接問われる要求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医療情報を取り扱う情報システム・サービスの提供事業者における安全管理ガイドライン 第2.0版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05840" y="1874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ガイドラインが求めていること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3774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05840" y="263347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国内法の執行が及ぶ範囲に置く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542032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0" y="25054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データ・処理系とも東京リージョン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31520" y="3072384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1638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真正性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05840" y="34198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改変の事実と、その内容を残す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263640" y="3328416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0" y="329184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変更前後の値・作成者・サーバー時刻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1520" y="3858768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395020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見読性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5840" y="420624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画面表示に加え、書面を作成できる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63640" y="4114800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407822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記録の印刷機能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31520" y="4645152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3659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 保存性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05840" y="4992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期間中は復元できる状態を保つ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6263640" y="4901184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0" y="48646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任意時点への復元・削除保護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731520" y="5431536"/>
            <a:ext cx="10698480" cy="694944"/>
          </a:xfrm>
          <a:prstGeom prst="roundRect">
            <a:avLst>
              <a:gd name="adj" fmla="val 10526"/>
            </a:avLst>
          </a:prstGeom>
          <a:solidFill>
            <a:srgbClr val="F1F6F5"/>
          </a:solidFill>
          <a:ln w="12700">
            <a:solidFill>
              <a:srgbClr val="DCE6E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05840" y="55229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4.1／4.2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05840" y="577900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医療機関へ所定の項目を開示し、役割分担を明確にする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6263640" y="5687568"/>
            <a:ext cx="256032" cy="201168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0" y="56509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サービス仕様適合開示書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31520" y="635508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このガイドラインは医療機関ではなく、システムを提供する事業者そのものが名宛人です。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できていないこと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導入をご検討いただく前に、こちらからお伝えします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1122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プライバシーマーク／ISMS認証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21305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49440" y="21305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未取得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51560" y="25146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事業者ガイドライン4.4が求めています。技術的な工夫では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代替できず、審査期間と費用がかかるため事業判断が要ります。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31520" y="33375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51560" y="34838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第三者による安全管理の評価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6949440" y="35021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0" y="35021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未実施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8862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同4.3。現状は内部での確認に留まっています。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4709160"/>
            <a:ext cx="10698480" cy="1207008"/>
          </a:xfrm>
          <a:prstGeom prst="roundRect">
            <a:avLst>
              <a:gd name="adj" fmla="val 6061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51560" y="485546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二要素認証の全員登録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6949440" y="4873752"/>
            <a:ext cx="1371600" cy="384048"/>
          </a:xfrm>
          <a:prstGeom prst="roundRect">
            <a:avLst>
              <a:gd name="adj" fmla="val 19048"/>
            </a:avLst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4873752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移行中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51560" y="5257800"/>
            <a:ext cx="9966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新規アカウントは登録必須にしました。既存の利用者は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締め出さないよう、案内から順に進めています。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6126480"/>
            <a:ext cx="10698480" cy="594360"/>
          </a:xfrm>
          <a:prstGeom prst="roundRect">
            <a:avLst>
              <a:gd name="adj" fmla="val 12308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6245352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未対応の一覧は開示書にそのまま載せています。ご確認のうえ判断してください。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0280"/>
            <a:ext cx="1005840" cy="100584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240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2286000" y="1874520"/>
            <a:ext cx="9326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健診データを</a:t>
            </a:r>
            <a:endParaRPr lang="en-US" sz="38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プライマリケアにどう活かすか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286000" y="39319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FC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毎年集まっている特定健診データを、予防のための判断に変える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286000" y="4892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事例：1年間のBRI変化と尿蛋白の新規発現（宮崎県延岡市 2020–2021年）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特定健診は、毎年とられている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受ける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7724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腹囲・血圧・血液検査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7121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5468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結果を渡す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15468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基準値との比較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248656" y="2670048"/>
            <a:ext cx="201168" cy="237744"/>
          </a:xfrm>
          <a:prstGeom prst="rightArrow">
            <a:avLst/>
          </a:prstGeom>
          <a:solidFill>
            <a:srgbClr val="A8CFC9"/>
          </a:solidFill>
          <a:ln w="12700">
            <a:solidFill>
              <a:srgbClr val="A8CF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0" y="196596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32120" y="219456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保健指導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2651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該当者に案内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55280" y="1965960"/>
            <a:ext cx="3474720" cy="1554480"/>
          </a:xfrm>
          <a:prstGeom prst="roundRect">
            <a:avLst>
              <a:gd name="adj" fmla="val 470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多くはここで終わる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83880" y="263347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「今」の値は分かるが、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変化は活かされにくい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31920"/>
            <a:ext cx="10698480" cy="2011680"/>
          </a:xfrm>
          <a:prstGeom prst="roundRect">
            <a:avLst>
              <a:gd name="adj" fmla="val 3636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1605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4590288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毎年同じ人を測っているのだから、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「去年からどう変わったか」でリスクを見られないか。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事例：からだの「まるみ」の変化を見る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腹囲と身長だけで計算できる指標 BRI（Body Roundness Index）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8755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見たもの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延岡市の40歳以上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3,819名の2年分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3484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9087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調べたこと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9087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増えた／減った／横ばい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429000" cy="1783080"/>
          </a:xfrm>
          <a:prstGeom prst="roundRect">
            <a:avLst>
              <a:gd name="adj" fmla="val 4103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031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分かったこと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94192" y="2578608"/>
            <a:ext cx="2971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増えた群で尿蛋白が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新たに出やすかった</a:t>
            </a:r>
            <a:endParaRPr lang="en-US" sz="140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731520" y="3886200"/>
          <a:ext cx="60350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Shape 11"/>
          <p:cNvSpPr/>
          <p:nvPr/>
        </p:nvSpPr>
        <p:spPr>
          <a:xfrm>
            <a:off x="7040880" y="3886200"/>
            <a:ext cx="4389120" cy="2286000"/>
          </a:xfrm>
          <a:prstGeom prst="roundRect">
            <a:avLst>
              <a:gd name="adj" fmla="val 3200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0" y="40965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尿蛋白に注目する理由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315200" y="45262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腎機能の低下より先に出ることが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多く、早い段階で気づけます。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0" y="53492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BRIが増えた群のリスク上昇は、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BMIの変化を調整しても残りました。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どう現場で使えるか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1225296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研究を、健診の場での実践につなげる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8755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道具がいらない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8755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メジャーと身長計だけ。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特別な機器がなくても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どの会場でも計算できる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3484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9087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9087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声のかけ方が変わる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「太っています」ではなく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「去年より増えています」。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本人も実感しやすい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38160" y="1920240"/>
            <a:ext cx="3429000" cy="2743200"/>
          </a:xfrm>
          <a:prstGeom prst="roundRect">
            <a:avLst>
              <a:gd name="adj" fmla="val 2667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94192" y="2148840"/>
            <a:ext cx="502920" cy="502920"/>
          </a:xfrm>
          <a:prstGeom prst="ellipse">
            <a:avLst/>
          </a:prstGeom>
          <a:solidFill>
            <a:srgbClr val="D98A2B"/>
          </a:solidFill>
          <a:ln w="12700">
            <a:solidFill>
              <a:srgbClr val="D98A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94192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優先順位がつけられる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94192" y="3346704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限られた保健指導の枠を、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リスクが上がった人に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優先して充てられる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31520" y="4983480"/>
            <a:ext cx="10698480" cy="1188720"/>
          </a:xfrm>
          <a:prstGeom prst="roundRect">
            <a:avLst>
              <a:gd name="adj" fmla="val 6154"/>
            </a:avLst>
          </a:prstGeom>
          <a:solidFill>
            <a:srgbClr val="14504B"/>
          </a:solidFill>
          <a:ln w="12700">
            <a:solidFill>
              <a:srgbClr val="145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525780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研究の目的は、論文を書くことではなく、明日の声かけを変えること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言えること、言えないこと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965960"/>
            <a:ext cx="5120640" cy="3200400"/>
          </a:xfrm>
          <a:prstGeom prst="roundRect">
            <a:avLst>
              <a:gd name="adj" fmla="val 2286"/>
            </a:avLst>
          </a:prstGeom>
          <a:solidFill>
            <a:srgbClr val="F1F6F5"/>
          </a:solidFill>
          <a:ln w="12700">
            <a:solidFill>
              <a:srgbClr val="F1F6F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5156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504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言えること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51560" y="283464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1年間でBRIが増えた人は、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尿蛋白が新たに出やすかった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3931920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体重やBMIの変化を</a:t>
            </a:r>
            <a:endParaRPr lang="en-US" sz="15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621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考慮しても傾向は残った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0" y="1965960"/>
            <a:ext cx="5029200" cy="3200400"/>
          </a:xfrm>
          <a:prstGeom prst="roundRect">
            <a:avLst>
              <a:gd name="adj" fmla="val 2286"/>
            </a:avLst>
          </a:prstGeom>
          <a:solidFill>
            <a:srgbClr val="F7F2EC"/>
          </a:solidFill>
          <a:ln w="12700">
            <a:solidFill>
              <a:srgbClr val="F7F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20840" y="21945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A6F5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言えないこと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720840" y="2788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BRIを下げれば腎臓が守れる、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という因果関係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20840" y="36118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1年の観察なので、一時的な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変動の影響もありうる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20840" y="4434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延岡市の受診者が対象。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A504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そのまま他地域には広げられない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544068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C6B6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次に必要なのは、複数地域・長期の追跡と、介入して確かめる研究です。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50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657600"/>
            <a:ext cx="4754880" cy="4754880"/>
          </a:xfrm>
          <a:prstGeom prst="ellipse">
            <a:avLst/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ふたつに共通していること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ファーマケア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28016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施設で毎日とっている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服薬・症状の記録を、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その場の判断につなげる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63640" y="2240280"/>
            <a:ext cx="5029200" cy="2194560"/>
          </a:xfrm>
          <a:prstGeom prst="roundRect">
            <a:avLst>
              <a:gd name="adj" fmla="val 3333"/>
            </a:avLst>
          </a:prstGeom>
          <a:solidFill>
            <a:srgbClr val="1B635C"/>
          </a:solidFill>
          <a:ln w="12700">
            <a:solidFill>
              <a:srgbClr val="1B63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24505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98A2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健診データの研究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629400" y="2971800"/>
            <a:ext cx="4434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毎年とっている健診の値を、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変化として読み、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予防の優先順位につなげる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すでに手元にあるデータを、次の一手に変える。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ファーマケア 紹介資料</dc:title>
  <dc:subject>PptxGenJS Presentation</dc:subject>
  <dc:creator>PharmaCare</dc:creator>
  <cp:lastModifiedBy>PharmaCare</cp:lastModifiedBy>
  <cp:revision>1</cp:revision>
  <dcterms:created xsi:type="dcterms:W3CDTF">2026-08-24T13:16:49Z</dcterms:created>
  <dcterms:modified xsi:type="dcterms:W3CDTF">2026-08-24T13:16:49Z</dcterms:modified>
</cp:coreProperties>
</file>